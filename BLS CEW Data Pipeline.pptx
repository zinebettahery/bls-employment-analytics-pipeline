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Heebo" panose="020B0604020202020204" charset="-79"/>
      <p:regular r:id="rId19"/>
    </p:embeddedFont>
    <p:embeddedFont>
      <p:font typeface="Heebo Bold" panose="020B0604020202020204" charset="-79"/>
      <p:regular r:id="rId20"/>
    </p:embeddedFont>
    <p:embeddedFont>
      <p:font typeface="Heebo Heavy" panose="020B0604020202020204" charset="-79"/>
      <p:regular r:id="rId21"/>
    </p:embeddedFont>
    <p:embeddedFont>
      <p:font typeface="Heebo Medium" panose="020B0604020202020204" charset="-79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2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zinebettahery/bls-employment-analytics-pipeline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98391" y="600611"/>
            <a:ext cx="3385972" cy="885458"/>
          </a:xfrm>
          <a:custGeom>
            <a:avLst/>
            <a:gdLst/>
            <a:ahLst/>
            <a:cxnLst/>
            <a:rect l="l" t="t" r="r" b="b"/>
            <a:pathLst>
              <a:path w="3385972" h="885458">
                <a:moveTo>
                  <a:pt x="0" y="0"/>
                </a:moveTo>
                <a:lnTo>
                  <a:pt x="3385972" y="0"/>
                </a:lnTo>
                <a:lnTo>
                  <a:pt x="3385972" y="885458"/>
                </a:lnTo>
                <a:lnTo>
                  <a:pt x="0" y="885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19" b="-632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56251" y="145096"/>
            <a:ext cx="2151128" cy="1640491"/>
          </a:xfrm>
          <a:custGeom>
            <a:avLst/>
            <a:gdLst/>
            <a:ahLst/>
            <a:cxnLst/>
            <a:rect l="l" t="t" r="r" b="b"/>
            <a:pathLst>
              <a:path w="2151128" h="1640491">
                <a:moveTo>
                  <a:pt x="0" y="0"/>
                </a:moveTo>
                <a:lnTo>
                  <a:pt x="2151128" y="0"/>
                </a:lnTo>
                <a:lnTo>
                  <a:pt x="2151128" y="1640492"/>
                </a:lnTo>
                <a:lnTo>
                  <a:pt x="0" y="1640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14" r="-605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04568" y="444616"/>
            <a:ext cx="1653441" cy="1041453"/>
          </a:xfrm>
          <a:custGeom>
            <a:avLst/>
            <a:gdLst/>
            <a:ahLst/>
            <a:cxnLst/>
            <a:rect l="l" t="t" r="r" b="b"/>
            <a:pathLst>
              <a:path w="1653441" h="1041453">
                <a:moveTo>
                  <a:pt x="0" y="0"/>
                </a:moveTo>
                <a:lnTo>
                  <a:pt x="1653441" y="0"/>
                </a:lnTo>
                <a:lnTo>
                  <a:pt x="1653441" y="1041453"/>
                </a:lnTo>
                <a:lnTo>
                  <a:pt x="0" y="1041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6715" y="371767"/>
            <a:ext cx="3093477" cy="1035474"/>
          </a:xfrm>
          <a:custGeom>
            <a:avLst/>
            <a:gdLst/>
            <a:ahLst/>
            <a:cxnLst/>
            <a:rect l="l" t="t" r="r" b="b"/>
            <a:pathLst>
              <a:path w="3093477" h="1035474">
                <a:moveTo>
                  <a:pt x="0" y="0"/>
                </a:moveTo>
                <a:lnTo>
                  <a:pt x="3093478" y="0"/>
                </a:lnTo>
                <a:lnTo>
                  <a:pt x="3093478" y="1035474"/>
                </a:lnTo>
                <a:lnTo>
                  <a:pt x="0" y="1035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23346" y="145096"/>
            <a:ext cx="2141891" cy="1767207"/>
          </a:xfrm>
          <a:custGeom>
            <a:avLst/>
            <a:gdLst/>
            <a:ahLst/>
            <a:cxnLst/>
            <a:rect l="l" t="t" r="r" b="b"/>
            <a:pathLst>
              <a:path w="2141891" h="1767207">
                <a:moveTo>
                  <a:pt x="0" y="0"/>
                </a:moveTo>
                <a:lnTo>
                  <a:pt x="2141892" y="0"/>
                </a:lnTo>
                <a:lnTo>
                  <a:pt x="2141892" y="1767208"/>
                </a:lnTo>
                <a:lnTo>
                  <a:pt x="0" y="1767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26" t="-3155" b="-315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969866"/>
            <a:ext cx="9335108" cy="7697108"/>
          </a:xfrm>
          <a:custGeom>
            <a:avLst/>
            <a:gdLst/>
            <a:ahLst/>
            <a:cxnLst/>
            <a:rect l="l" t="t" r="r" b="b"/>
            <a:pathLst>
              <a:path w="9335108" h="7697108">
                <a:moveTo>
                  <a:pt x="0" y="0"/>
                </a:moveTo>
                <a:lnTo>
                  <a:pt x="9335108" y="0"/>
                </a:lnTo>
                <a:lnTo>
                  <a:pt x="9335108" y="7697108"/>
                </a:lnTo>
                <a:lnTo>
                  <a:pt x="0" y="76971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245" r="-2825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536296" y="2906019"/>
            <a:ext cx="8218304" cy="4524968"/>
            <a:chOff x="0" y="66675"/>
            <a:chExt cx="10957738" cy="6033290"/>
          </a:xfrm>
        </p:grpSpPr>
        <p:sp>
          <p:nvSpPr>
            <p:cNvPr id="9" name="TextBox 9"/>
            <p:cNvSpPr txBox="1"/>
            <p:nvPr/>
          </p:nvSpPr>
          <p:spPr>
            <a:xfrm>
              <a:off x="12897" y="3309244"/>
              <a:ext cx="10552692" cy="574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0"/>
                </a:lnSpc>
              </a:pPr>
              <a:r>
                <a:rPr lang="en-US" sz="2900" b="1" dirty="0">
                  <a:solidFill>
                    <a:srgbClr val="365679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Data Engineering | Analytics | Machine Learning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97" y="4240592"/>
              <a:ext cx="10552692" cy="18593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Pipeline Data Engineering complet transformant les données BLS en dashboards interactifs et en insights analytiques, avec une approche SQL dynamique et un modèle de prévision basé sur le Machine Learning.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5"/>
              <a:ext cx="10957738" cy="28383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249"/>
                </a:lnSpc>
              </a:pPr>
              <a:r>
                <a:rPr lang="en-US" sz="7500" b="1" kern="1200" dirty="0">
                  <a:solidFill>
                    <a:schemeClr val="tx2">
                      <a:lumMod val="75000"/>
                    </a:schemeClr>
                  </a:solidFill>
                  <a:effectLst/>
                  <a:latin typeface="Heebo Medium" panose="020B0604020202020204" charset="-79"/>
                  <a:ea typeface="Heebo Medium" panose="020B0604020202020204" charset="-79"/>
                  <a:cs typeface="Heebo Medium" panose="020B0604020202020204" charset="-79"/>
                </a:rPr>
                <a:t>PIPELINE DATA END-TO-END</a:t>
              </a:r>
              <a:endParaRPr lang="en-US" sz="7500" b="1" spc="-74" dirty="0">
                <a:solidFill>
                  <a:schemeClr val="tx2">
                    <a:lumMod val="75000"/>
                  </a:schemeClr>
                </a:solidFill>
                <a:latin typeface="Heebo Heavy"/>
                <a:ea typeface="Heebo Heavy"/>
                <a:cs typeface="Heebo Heavy"/>
                <a:sym typeface="Heebo Heavy"/>
                <a:hlinkClick r:id="rId8" tooltip="https://github.com/zinebettahery/bls-employment-analytics-pipelin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5393260" y="3838951"/>
            <a:ext cx="1304549" cy="1304549"/>
          </a:xfrm>
          <a:custGeom>
            <a:avLst/>
            <a:gdLst/>
            <a:ahLst/>
            <a:cxnLst/>
            <a:rect l="l" t="t" r="r" b="b"/>
            <a:pathLst>
              <a:path w="1304549" h="1304549">
                <a:moveTo>
                  <a:pt x="0" y="0"/>
                </a:moveTo>
                <a:lnTo>
                  <a:pt x="1304549" y="0"/>
                </a:lnTo>
                <a:lnTo>
                  <a:pt x="1304549" y="1304549"/>
                </a:lnTo>
                <a:lnTo>
                  <a:pt x="0" y="13045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667609" y="9755087"/>
            <a:ext cx="4620391" cy="363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Zineb ET-TAHERY  | Avril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8763" y="619114"/>
            <a:ext cx="16249823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spc="-60">
                <a:solidFill>
                  <a:srgbClr val="0B1320"/>
                </a:solidFill>
                <a:latin typeface="Heebo Heavy"/>
                <a:ea typeface="Heebo Heavy"/>
                <a:cs typeface="Heebo Heavy"/>
                <a:sym typeface="Heebo Heavy"/>
              </a:rPr>
              <a:t>CONTEXTE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013034" y="6228217"/>
            <a:ext cx="4549931" cy="5606444"/>
            <a:chOff x="0" y="0"/>
            <a:chExt cx="6066575" cy="7475259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65870" y="3707630"/>
              <a:ext cx="5553127" cy="2113871"/>
              <a:chOff x="0" y="0"/>
              <a:chExt cx="882773" cy="33603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C0A9BC"/>
                </a:solidFill>
                <a:prstDash val="dash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882773" cy="393189"/>
              </a:xfrm>
              <a:prstGeom prst="rect">
                <a:avLst/>
              </a:prstGeom>
            </p:spPr>
            <p:txBody>
              <a:bodyPr lIns="98288" tIns="98288" rIns="98288" bIns="98288" rtlCol="0" anchor="ctr"/>
              <a:lstStyle/>
              <a:p>
                <a:pPr algn="ctr">
                  <a:lnSpc>
                    <a:spcPts val="4063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579318" y="1653758"/>
              <a:ext cx="5553127" cy="2113871"/>
              <a:chOff x="0" y="0"/>
              <a:chExt cx="882773" cy="33603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B13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57150"/>
                <a:ext cx="882773" cy="393189"/>
              </a:xfrm>
              <a:prstGeom prst="rect">
                <a:avLst/>
              </a:prstGeom>
            </p:spPr>
            <p:txBody>
              <a:bodyPr lIns="98288" tIns="98288" rIns="98288" bIns="98288" rtlCol="0" anchor="ctr"/>
              <a:lstStyle/>
              <a:p>
                <a:pPr algn="ctr">
                  <a:lnSpc>
                    <a:spcPts val="4063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-1932492" y="-913402"/>
            <a:ext cx="4549931" cy="5606444"/>
            <a:chOff x="0" y="0"/>
            <a:chExt cx="6066575" cy="7475259"/>
          </a:xfrm>
        </p:grpSpPr>
        <p:grpSp>
          <p:nvGrpSpPr>
            <p:cNvPr id="11" name="Group 11"/>
            <p:cNvGrpSpPr/>
            <p:nvPr/>
          </p:nvGrpSpPr>
          <p:grpSpPr>
            <a:xfrm rot="-2700000">
              <a:off x="-65870" y="3707630"/>
              <a:ext cx="5553127" cy="2113871"/>
              <a:chOff x="0" y="0"/>
              <a:chExt cx="882773" cy="33603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36AD61"/>
                </a:solidFill>
                <a:prstDash val="lgDash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882773" cy="393189"/>
              </a:xfrm>
              <a:prstGeom prst="rect">
                <a:avLst/>
              </a:prstGeom>
            </p:spPr>
            <p:txBody>
              <a:bodyPr lIns="98288" tIns="98288" rIns="98288" bIns="98288" rtlCol="0" anchor="ctr"/>
              <a:lstStyle/>
              <a:p>
                <a:pPr algn="ctr">
                  <a:lnSpc>
                    <a:spcPts val="4063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2700000">
              <a:off x="579318" y="1653758"/>
              <a:ext cx="5553127" cy="2113871"/>
              <a:chOff x="0" y="0"/>
              <a:chExt cx="882773" cy="33603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B13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882773" cy="393189"/>
              </a:xfrm>
              <a:prstGeom prst="rect">
                <a:avLst/>
              </a:prstGeom>
            </p:spPr>
            <p:txBody>
              <a:bodyPr lIns="98288" tIns="98288" rIns="98288" bIns="98288" rtlCol="0" anchor="ctr"/>
              <a:lstStyle/>
              <a:p>
                <a:pPr algn="ctr">
                  <a:lnSpc>
                    <a:spcPts val="4063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298763" y="7358764"/>
            <a:ext cx="5717328" cy="1904331"/>
            <a:chOff x="0" y="0"/>
            <a:chExt cx="7623104" cy="2539107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7623104" cy="2539107"/>
              <a:chOff x="0" y="0"/>
              <a:chExt cx="2570947" cy="85633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570947" cy="856332"/>
              </a:xfrm>
              <a:custGeom>
                <a:avLst/>
                <a:gdLst/>
                <a:ahLst/>
                <a:cxnLst/>
                <a:rect l="l" t="t" r="r" b="b"/>
                <a:pathLst>
                  <a:path w="2570947" h="856332">
                    <a:moveTo>
                      <a:pt x="58407" y="0"/>
                    </a:moveTo>
                    <a:lnTo>
                      <a:pt x="2512540" y="0"/>
                    </a:lnTo>
                    <a:cubicBezTo>
                      <a:pt x="2528031" y="0"/>
                      <a:pt x="2542887" y="6154"/>
                      <a:pt x="2553840" y="17107"/>
                    </a:cubicBezTo>
                    <a:cubicBezTo>
                      <a:pt x="2564794" y="28060"/>
                      <a:pt x="2570947" y="42916"/>
                      <a:pt x="2570947" y="58407"/>
                    </a:cubicBezTo>
                    <a:lnTo>
                      <a:pt x="2570947" y="797926"/>
                    </a:lnTo>
                    <a:cubicBezTo>
                      <a:pt x="2570947" y="813416"/>
                      <a:pt x="2564794" y="828272"/>
                      <a:pt x="2553840" y="839225"/>
                    </a:cubicBezTo>
                    <a:cubicBezTo>
                      <a:pt x="2542887" y="850179"/>
                      <a:pt x="2528031" y="856332"/>
                      <a:pt x="2512540" y="856332"/>
                    </a:cubicBezTo>
                    <a:lnTo>
                      <a:pt x="58407" y="856332"/>
                    </a:lnTo>
                    <a:cubicBezTo>
                      <a:pt x="42916" y="856332"/>
                      <a:pt x="28060" y="850179"/>
                      <a:pt x="17107" y="839225"/>
                    </a:cubicBezTo>
                    <a:cubicBezTo>
                      <a:pt x="6154" y="828272"/>
                      <a:pt x="0" y="813416"/>
                      <a:pt x="0" y="797926"/>
                    </a:cubicBezTo>
                    <a:lnTo>
                      <a:pt x="0" y="58407"/>
                    </a:lnTo>
                    <a:cubicBezTo>
                      <a:pt x="0" y="42916"/>
                      <a:pt x="6154" y="28060"/>
                      <a:pt x="17107" y="17107"/>
                    </a:cubicBezTo>
                    <a:cubicBezTo>
                      <a:pt x="28060" y="6154"/>
                      <a:pt x="42916" y="0"/>
                      <a:pt x="58407" y="0"/>
                    </a:cubicBezTo>
                    <a:close/>
                  </a:path>
                </a:pathLst>
              </a:custGeom>
              <a:solidFill>
                <a:srgbClr val="0B132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2570947" cy="884907"/>
              </a:xfrm>
              <a:prstGeom prst="rect">
                <a:avLst/>
              </a:prstGeom>
            </p:spPr>
            <p:txBody>
              <a:bodyPr lIns="43161" tIns="43161" rIns="43161" bIns="43161" rtlCol="0" anchor="ctr"/>
              <a:lstStyle/>
              <a:p>
                <a:pPr algn="ctr">
                  <a:lnSpc>
                    <a:spcPts val="209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48932" y="0"/>
              <a:ext cx="7374172" cy="2536809"/>
              <a:chOff x="0" y="0"/>
              <a:chExt cx="2486993" cy="85555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486993" cy="855557"/>
              </a:xfrm>
              <a:custGeom>
                <a:avLst/>
                <a:gdLst/>
                <a:ahLst/>
                <a:cxnLst/>
                <a:rect l="l" t="t" r="r" b="b"/>
                <a:pathLst>
                  <a:path w="2486993" h="855557">
                    <a:moveTo>
                      <a:pt x="52091" y="0"/>
                    </a:moveTo>
                    <a:lnTo>
                      <a:pt x="2434902" y="0"/>
                    </a:lnTo>
                    <a:cubicBezTo>
                      <a:pt x="2448717" y="0"/>
                      <a:pt x="2461967" y="5488"/>
                      <a:pt x="2471736" y="15257"/>
                    </a:cubicBezTo>
                    <a:cubicBezTo>
                      <a:pt x="2481505" y="25026"/>
                      <a:pt x="2486993" y="38276"/>
                      <a:pt x="2486993" y="52091"/>
                    </a:cubicBezTo>
                    <a:lnTo>
                      <a:pt x="2486993" y="803466"/>
                    </a:lnTo>
                    <a:cubicBezTo>
                      <a:pt x="2486993" y="817282"/>
                      <a:pt x="2481505" y="830531"/>
                      <a:pt x="2471736" y="840300"/>
                    </a:cubicBezTo>
                    <a:cubicBezTo>
                      <a:pt x="2461967" y="850069"/>
                      <a:pt x="2448717" y="855557"/>
                      <a:pt x="2434902" y="855557"/>
                    </a:cubicBezTo>
                    <a:lnTo>
                      <a:pt x="52091" y="855557"/>
                    </a:lnTo>
                    <a:cubicBezTo>
                      <a:pt x="23322" y="855557"/>
                      <a:pt x="0" y="832235"/>
                      <a:pt x="0" y="803466"/>
                    </a:cubicBezTo>
                    <a:lnTo>
                      <a:pt x="0" y="52091"/>
                    </a:lnTo>
                    <a:cubicBezTo>
                      <a:pt x="0" y="38276"/>
                      <a:pt x="5488" y="25026"/>
                      <a:pt x="15257" y="15257"/>
                    </a:cubicBezTo>
                    <a:cubicBezTo>
                      <a:pt x="25026" y="5488"/>
                      <a:pt x="38276" y="0"/>
                      <a:pt x="52091" y="0"/>
                    </a:cubicBezTo>
                    <a:close/>
                  </a:path>
                </a:pathLst>
              </a:custGeom>
              <a:solidFill>
                <a:srgbClr val="FCFBFD"/>
              </a:solidFill>
              <a:ln w="952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2486993" cy="884132"/>
              </a:xfrm>
              <a:prstGeom prst="rect">
                <a:avLst/>
              </a:prstGeom>
            </p:spPr>
            <p:txBody>
              <a:bodyPr lIns="43161" tIns="43161" rIns="43161" bIns="43161" rtlCol="0" anchor="ctr"/>
              <a:lstStyle/>
              <a:p>
                <a:pPr algn="ctr">
                  <a:lnSpc>
                    <a:spcPts val="209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912183" y="821397"/>
              <a:ext cx="6101704" cy="8731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32"/>
                </a:lnSpc>
                <a:spcBef>
                  <a:spcPct val="0"/>
                </a:spcBef>
              </a:pPr>
              <a:r>
                <a:rPr lang="en-US" sz="3952" b="1">
                  <a:solidFill>
                    <a:srgbClr val="1C3F6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36M+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2183" y="1688388"/>
              <a:ext cx="6397104" cy="397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4"/>
                </a:lnSpc>
                <a:spcBef>
                  <a:spcPct val="0"/>
                </a:spcBef>
              </a:pPr>
              <a:r>
                <a:rPr lang="en-US" sz="1796">
                  <a:solidFill>
                    <a:srgbClr val="3D4440"/>
                  </a:solidFill>
                  <a:latin typeface="Heebo"/>
                  <a:ea typeface="Heebo"/>
                  <a:cs typeface="Heebo"/>
                  <a:sym typeface="Heebo"/>
                </a:rPr>
                <a:t>Lignes d'enregistrements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83" y="421417"/>
              <a:ext cx="6101704" cy="397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4"/>
                </a:lnSpc>
                <a:spcBef>
                  <a:spcPct val="0"/>
                </a:spcBef>
              </a:pPr>
              <a:r>
                <a:rPr lang="en-US" sz="1796" b="1">
                  <a:solidFill>
                    <a:srgbClr val="3D444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VOLUME DE DONNÉES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63451" y="7358764"/>
            <a:ext cx="5717328" cy="1899536"/>
            <a:chOff x="0" y="0"/>
            <a:chExt cx="7623104" cy="253271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7352550" cy="2532714"/>
              <a:chOff x="0" y="0"/>
              <a:chExt cx="2479701" cy="85417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479701" cy="854176"/>
              </a:xfrm>
              <a:custGeom>
                <a:avLst/>
                <a:gdLst/>
                <a:ahLst/>
                <a:cxnLst/>
                <a:rect l="l" t="t" r="r" b="b"/>
                <a:pathLst>
                  <a:path w="2479701" h="854176">
                    <a:moveTo>
                      <a:pt x="51450" y="0"/>
                    </a:moveTo>
                    <a:lnTo>
                      <a:pt x="2428251" y="0"/>
                    </a:lnTo>
                    <a:cubicBezTo>
                      <a:pt x="2441896" y="0"/>
                      <a:pt x="2454983" y="5421"/>
                      <a:pt x="2464631" y="15069"/>
                    </a:cubicBezTo>
                    <a:cubicBezTo>
                      <a:pt x="2474280" y="24718"/>
                      <a:pt x="2479701" y="37805"/>
                      <a:pt x="2479701" y="51450"/>
                    </a:cubicBezTo>
                    <a:lnTo>
                      <a:pt x="2479701" y="802726"/>
                    </a:lnTo>
                    <a:cubicBezTo>
                      <a:pt x="2479701" y="816371"/>
                      <a:pt x="2474280" y="829458"/>
                      <a:pt x="2464631" y="839107"/>
                    </a:cubicBezTo>
                    <a:cubicBezTo>
                      <a:pt x="2454983" y="848756"/>
                      <a:pt x="2441896" y="854176"/>
                      <a:pt x="2428251" y="854176"/>
                    </a:cubicBezTo>
                    <a:lnTo>
                      <a:pt x="51450" y="854176"/>
                    </a:lnTo>
                    <a:cubicBezTo>
                      <a:pt x="37805" y="854176"/>
                      <a:pt x="24718" y="848756"/>
                      <a:pt x="15069" y="839107"/>
                    </a:cubicBezTo>
                    <a:cubicBezTo>
                      <a:pt x="5421" y="829458"/>
                      <a:pt x="0" y="816371"/>
                      <a:pt x="0" y="802726"/>
                    </a:cubicBezTo>
                    <a:lnTo>
                      <a:pt x="0" y="51450"/>
                    </a:lnTo>
                    <a:cubicBezTo>
                      <a:pt x="0" y="37805"/>
                      <a:pt x="5421" y="24718"/>
                      <a:pt x="15069" y="15069"/>
                    </a:cubicBezTo>
                    <a:cubicBezTo>
                      <a:pt x="24718" y="5421"/>
                      <a:pt x="37805" y="0"/>
                      <a:pt x="51450" y="0"/>
                    </a:cubicBezTo>
                    <a:close/>
                  </a:path>
                </a:pathLst>
              </a:custGeom>
              <a:solidFill>
                <a:srgbClr val="0B1320"/>
              </a:solidFill>
              <a:ln w="952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2479701" cy="892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70554" y="0"/>
              <a:ext cx="7352550" cy="2532714"/>
              <a:chOff x="0" y="0"/>
              <a:chExt cx="2479701" cy="8541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479701" cy="854176"/>
              </a:xfrm>
              <a:custGeom>
                <a:avLst/>
                <a:gdLst/>
                <a:ahLst/>
                <a:cxnLst/>
                <a:rect l="l" t="t" r="r" b="b"/>
                <a:pathLst>
                  <a:path w="2479701" h="854176">
                    <a:moveTo>
                      <a:pt x="51450" y="0"/>
                    </a:moveTo>
                    <a:lnTo>
                      <a:pt x="2428251" y="0"/>
                    </a:lnTo>
                    <a:cubicBezTo>
                      <a:pt x="2441896" y="0"/>
                      <a:pt x="2454983" y="5421"/>
                      <a:pt x="2464631" y="15069"/>
                    </a:cubicBezTo>
                    <a:cubicBezTo>
                      <a:pt x="2474280" y="24718"/>
                      <a:pt x="2479701" y="37805"/>
                      <a:pt x="2479701" y="51450"/>
                    </a:cubicBezTo>
                    <a:lnTo>
                      <a:pt x="2479701" y="802726"/>
                    </a:lnTo>
                    <a:cubicBezTo>
                      <a:pt x="2479701" y="816371"/>
                      <a:pt x="2474280" y="829458"/>
                      <a:pt x="2464631" y="839107"/>
                    </a:cubicBezTo>
                    <a:cubicBezTo>
                      <a:pt x="2454983" y="848756"/>
                      <a:pt x="2441896" y="854176"/>
                      <a:pt x="2428251" y="854176"/>
                    </a:cubicBezTo>
                    <a:lnTo>
                      <a:pt x="51450" y="854176"/>
                    </a:lnTo>
                    <a:cubicBezTo>
                      <a:pt x="37805" y="854176"/>
                      <a:pt x="24718" y="848756"/>
                      <a:pt x="15069" y="839107"/>
                    </a:cubicBezTo>
                    <a:cubicBezTo>
                      <a:pt x="5421" y="829458"/>
                      <a:pt x="0" y="816371"/>
                      <a:pt x="0" y="802726"/>
                    </a:cubicBezTo>
                    <a:lnTo>
                      <a:pt x="0" y="51450"/>
                    </a:lnTo>
                    <a:cubicBezTo>
                      <a:pt x="0" y="37805"/>
                      <a:pt x="5421" y="24718"/>
                      <a:pt x="15069" y="15069"/>
                    </a:cubicBezTo>
                    <a:cubicBezTo>
                      <a:pt x="24718" y="5421"/>
                      <a:pt x="37805" y="0"/>
                      <a:pt x="51450" y="0"/>
                    </a:cubicBezTo>
                    <a:close/>
                  </a:path>
                </a:pathLst>
              </a:custGeom>
              <a:solidFill>
                <a:srgbClr val="FCFBFD"/>
              </a:solidFill>
              <a:ln w="952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2479701" cy="892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754052" y="821397"/>
              <a:ext cx="6598498" cy="8731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32"/>
                </a:lnSpc>
                <a:spcBef>
                  <a:spcPct val="0"/>
                </a:spcBef>
              </a:pPr>
              <a:r>
                <a:rPr lang="en-US" sz="3952" b="1">
                  <a:solidFill>
                    <a:srgbClr val="1C3F6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2015 - 2024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9172" y="1717321"/>
              <a:ext cx="5577185" cy="397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4"/>
                </a:lnSpc>
                <a:spcBef>
                  <a:spcPct val="0"/>
                </a:spcBef>
              </a:pPr>
              <a:r>
                <a:rPr lang="en-US" sz="1796">
                  <a:solidFill>
                    <a:srgbClr val="3D4440"/>
                  </a:solidFill>
                  <a:latin typeface="Heebo"/>
                  <a:ea typeface="Heebo"/>
                  <a:cs typeface="Heebo"/>
                  <a:sym typeface="Heebo"/>
                </a:rPr>
                <a:t>10 ans d’historique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4052" y="421417"/>
              <a:ext cx="6598498" cy="397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4"/>
                </a:lnSpc>
                <a:spcBef>
                  <a:spcPct val="0"/>
                </a:spcBef>
              </a:pPr>
              <a:r>
                <a:rPr lang="en-US" sz="1796" b="1">
                  <a:solidFill>
                    <a:srgbClr val="3D444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COUVERTURE TEMPORELLE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13263" y="2125445"/>
            <a:ext cx="8300746" cy="4842633"/>
            <a:chOff x="0" y="0"/>
            <a:chExt cx="11067661" cy="6456844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1067661" cy="6456844"/>
              <a:chOff x="0" y="0"/>
              <a:chExt cx="3156850" cy="1841698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156850" cy="1841697"/>
              </a:xfrm>
              <a:custGeom>
                <a:avLst/>
                <a:gdLst/>
                <a:ahLst/>
                <a:cxnLst/>
                <a:rect l="l" t="t" r="r" b="b"/>
                <a:pathLst>
                  <a:path w="3156850" h="1841697">
                    <a:moveTo>
                      <a:pt x="40105" y="0"/>
                    </a:moveTo>
                    <a:lnTo>
                      <a:pt x="3116744" y="0"/>
                    </a:lnTo>
                    <a:cubicBezTo>
                      <a:pt x="3127381" y="0"/>
                      <a:pt x="3137582" y="4225"/>
                      <a:pt x="3145103" y="11747"/>
                    </a:cubicBezTo>
                    <a:cubicBezTo>
                      <a:pt x="3152624" y="19268"/>
                      <a:pt x="3156850" y="29469"/>
                      <a:pt x="3156850" y="40105"/>
                    </a:cubicBezTo>
                    <a:lnTo>
                      <a:pt x="3156850" y="1801592"/>
                    </a:lnTo>
                    <a:cubicBezTo>
                      <a:pt x="3156850" y="1812229"/>
                      <a:pt x="3152624" y="1822430"/>
                      <a:pt x="3145103" y="1829951"/>
                    </a:cubicBezTo>
                    <a:cubicBezTo>
                      <a:pt x="3137582" y="1837472"/>
                      <a:pt x="3127381" y="1841697"/>
                      <a:pt x="3116744" y="1841697"/>
                    </a:cubicBezTo>
                    <a:lnTo>
                      <a:pt x="40105" y="1841697"/>
                    </a:lnTo>
                    <a:cubicBezTo>
                      <a:pt x="17956" y="1841697"/>
                      <a:pt x="0" y="1823742"/>
                      <a:pt x="0" y="1801592"/>
                    </a:cubicBezTo>
                    <a:lnTo>
                      <a:pt x="0" y="40105"/>
                    </a:lnTo>
                    <a:cubicBezTo>
                      <a:pt x="0" y="29469"/>
                      <a:pt x="4225" y="19268"/>
                      <a:pt x="11747" y="11747"/>
                    </a:cubicBezTo>
                    <a:cubicBezTo>
                      <a:pt x="19268" y="4225"/>
                      <a:pt x="29469" y="0"/>
                      <a:pt x="40105" y="0"/>
                    </a:cubicBezTo>
                    <a:close/>
                  </a:path>
                </a:pathLst>
              </a:custGeom>
              <a:solidFill>
                <a:srgbClr val="FCFBFD"/>
              </a:solidFill>
              <a:ln w="952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66675"/>
                <a:ext cx="3156850" cy="1908373"/>
              </a:xfrm>
              <a:prstGeom prst="rect">
                <a:avLst/>
              </a:prstGeom>
            </p:spPr>
            <p:txBody>
              <a:bodyPr lIns="43161" tIns="43161" rIns="43161" bIns="43161" rtlCol="0" anchor="ctr"/>
              <a:lstStyle/>
              <a:p>
                <a:pPr algn="ctr">
                  <a:lnSpc>
                    <a:spcPts val="4200"/>
                  </a:lnSpc>
                </a:pPr>
                <a:endParaRPr/>
              </a:p>
              <a:p>
                <a:pPr algn="ctr">
                  <a:lnSpc>
                    <a:spcPts val="4199"/>
                  </a:lnSpc>
                </a:pPr>
                <a:endParaRPr/>
              </a:p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569683" y="644082"/>
              <a:ext cx="9928295" cy="5544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Le marché du travail génère un volume important de données économiques complexes, difficiles à exploiter directement.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 Ces données nécessitent un traitement structuré afin de garantir leur qualité et faciliter leur analyse.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 Dans ce contexte, la mise en place d’un pipeline data automatisé devient essentielle pour transformer les données brutes en informations exploitables et aider à la prise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endParaRPr lang="en-US" sz="2399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696681" y="7327832"/>
            <a:ext cx="5717328" cy="1930468"/>
            <a:chOff x="0" y="0"/>
            <a:chExt cx="7623104" cy="2573957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7352550" cy="2573957"/>
              <a:chOff x="0" y="0"/>
              <a:chExt cx="2439968" cy="8541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2439968" cy="854176"/>
              </a:xfrm>
              <a:custGeom>
                <a:avLst/>
                <a:gdLst/>
                <a:ahLst/>
                <a:cxnLst/>
                <a:rect l="l" t="t" r="r" b="b"/>
                <a:pathLst>
                  <a:path w="2439968" h="854176">
                    <a:moveTo>
                      <a:pt x="52288" y="0"/>
                    </a:moveTo>
                    <a:lnTo>
                      <a:pt x="2387680" y="0"/>
                    </a:lnTo>
                    <a:cubicBezTo>
                      <a:pt x="2416558" y="0"/>
                      <a:pt x="2439968" y="23410"/>
                      <a:pt x="2439968" y="52288"/>
                    </a:cubicBezTo>
                    <a:lnTo>
                      <a:pt x="2439968" y="801888"/>
                    </a:lnTo>
                    <a:cubicBezTo>
                      <a:pt x="2439968" y="815756"/>
                      <a:pt x="2434459" y="829056"/>
                      <a:pt x="2424654" y="838861"/>
                    </a:cubicBezTo>
                    <a:cubicBezTo>
                      <a:pt x="2414848" y="848667"/>
                      <a:pt x="2401548" y="854176"/>
                      <a:pt x="2387680" y="854176"/>
                    </a:cubicBezTo>
                    <a:lnTo>
                      <a:pt x="52288" y="854176"/>
                    </a:lnTo>
                    <a:cubicBezTo>
                      <a:pt x="23410" y="854176"/>
                      <a:pt x="0" y="830766"/>
                      <a:pt x="0" y="801888"/>
                    </a:cubicBezTo>
                    <a:lnTo>
                      <a:pt x="0" y="52288"/>
                    </a:lnTo>
                    <a:cubicBezTo>
                      <a:pt x="0" y="23410"/>
                      <a:pt x="23410" y="0"/>
                      <a:pt x="52288" y="0"/>
                    </a:cubicBezTo>
                    <a:close/>
                  </a:path>
                </a:pathLst>
              </a:custGeom>
              <a:solidFill>
                <a:srgbClr val="0B1320"/>
              </a:solidFill>
              <a:ln w="952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2439968" cy="892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270554" y="0"/>
              <a:ext cx="7352550" cy="2573957"/>
              <a:chOff x="0" y="0"/>
              <a:chExt cx="2439968" cy="85417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2439968" cy="854176"/>
              </a:xfrm>
              <a:custGeom>
                <a:avLst/>
                <a:gdLst/>
                <a:ahLst/>
                <a:cxnLst/>
                <a:rect l="l" t="t" r="r" b="b"/>
                <a:pathLst>
                  <a:path w="2439968" h="854176">
                    <a:moveTo>
                      <a:pt x="52288" y="0"/>
                    </a:moveTo>
                    <a:lnTo>
                      <a:pt x="2387680" y="0"/>
                    </a:lnTo>
                    <a:cubicBezTo>
                      <a:pt x="2416558" y="0"/>
                      <a:pt x="2439968" y="23410"/>
                      <a:pt x="2439968" y="52288"/>
                    </a:cubicBezTo>
                    <a:lnTo>
                      <a:pt x="2439968" y="801888"/>
                    </a:lnTo>
                    <a:cubicBezTo>
                      <a:pt x="2439968" y="815756"/>
                      <a:pt x="2434459" y="829056"/>
                      <a:pt x="2424654" y="838861"/>
                    </a:cubicBezTo>
                    <a:cubicBezTo>
                      <a:pt x="2414848" y="848667"/>
                      <a:pt x="2401548" y="854176"/>
                      <a:pt x="2387680" y="854176"/>
                    </a:cubicBezTo>
                    <a:lnTo>
                      <a:pt x="52288" y="854176"/>
                    </a:lnTo>
                    <a:cubicBezTo>
                      <a:pt x="23410" y="854176"/>
                      <a:pt x="0" y="830766"/>
                      <a:pt x="0" y="801888"/>
                    </a:cubicBezTo>
                    <a:lnTo>
                      <a:pt x="0" y="52288"/>
                    </a:lnTo>
                    <a:cubicBezTo>
                      <a:pt x="0" y="23410"/>
                      <a:pt x="23410" y="0"/>
                      <a:pt x="52288" y="0"/>
                    </a:cubicBezTo>
                    <a:close/>
                  </a:path>
                </a:pathLst>
              </a:custGeom>
              <a:solidFill>
                <a:srgbClr val="FCFBFD"/>
              </a:solidFill>
              <a:ln w="952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2439968" cy="892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754052" y="947876"/>
              <a:ext cx="6869052" cy="579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sz="2678" b="1">
                  <a:solidFill>
                    <a:srgbClr val="1C3F6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Bureau of Labor Statistics (BLS)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4052" y="438425"/>
              <a:ext cx="6598498" cy="393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5"/>
                </a:lnSpc>
                <a:spcBef>
                  <a:spcPct val="0"/>
                </a:spcBef>
              </a:pPr>
              <a:r>
                <a:rPr lang="en-US" sz="1825" b="1">
                  <a:solidFill>
                    <a:srgbClr val="3D444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SOURCE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4052" y="1662118"/>
              <a:ext cx="5577185" cy="393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5"/>
                </a:lnSpc>
                <a:spcBef>
                  <a:spcPct val="0"/>
                </a:spcBef>
              </a:pPr>
              <a:r>
                <a:rPr lang="en-US" sz="1825">
                  <a:solidFill>
                    <a:srgbClr val="3D4440"/>
                  </a:solidFill>
                  <a:latin typeface="Heebo"/>
                  <a:ea typeface="Heebo"/>
                  <a:cs typeface="Heebo"/>
                  <a:sym typeface="Heebo"/>
                </a:rPr>
                <a:t>Les États-Unis 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582475" y="1641931"/>
            <a:ext cx="8294823" cy="5529882"/>
          </a:xfrm>
          <a:custGeom>
            <a:avLst/>
            <a:gdLst/>
            <a:ahLst/>
            <a:cxnLst/>
            <a:rect l="l" t="t" r="r" b="b"/>
            <a:pathLst>
              <a:path w="8294823" h="5529882">
                <a:moveTo>
                  <a:pt x="0" y="0"/>
                </a:moveTo>
                <a:lnTo>
                  <a:pt x="8294823" y="0"/>
                </a:lnTo>
                <a:lnTo>
                  <a:pt x="8294823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20564" y="4155599"/>
            <a:ext cx="7557206" cy="10205403"/>
            <a:chOff x="0" y="0"/>
            <a:chExt cx="10076275" cy="13607204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-122427" y="3073700"/>
              <a:ext cx="10321130" cy="3928875"/>
              <a:chOff x="0" y="0"/>
              <a:chExt cx="882773" cy="33603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FDFFF8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882773" cy="412239"/>
              </a:xfrm>
              <a:prstGeom prst="rect">
                <a:avLst/>
              </a:prstGeom>
            </p:spPr>
            <p:txBody>
              <a:bodyPr lIns="119293" tIns="119293" rIns="119293" bIns="119293" rtlCol="0" anchor="ctr"/>
              <a:lstStyle/>
              <a:p>
                <a:pPr algn="ctr">
                  <a:lnSpc>
                    <a:spcPts val="4931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2700000">
              <a:off x="-122427" y="6604629"/>
              <a:ext cx="10321130" cy="3928875"/>
              <a:chOff x="0" y="0"/>
              <a:chExt cx="88277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882773" cy="412239"/>
              </a:xfrm>
              <a:prstGeom prst="rect">
                <a:avLst/>
              </a:prstGeom>
            </p:spPr>
            <p:txBody>
              <a:bodyPr lIns="119293" tIns="119293" rIns="119293" bIns="119293" rtlCol="0" anchor="ctr"/>
              <a:lstStyle/>
              <a:p>
                <a:pPr algn="ctr">
                  <a:lnSpc>
                    <a:spcPts val="4931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5341006" y="-1028862"/>
            <a:ext cx="5354679" cy="6598058"/>
            <a:chOff x="0" y="0"/>
            <a:chExt cx="7139572" cy="8797411"/>
          </a:xfrm>
        </p:grpSpPr>
        <p:grpSp>
          <p:nvGrpSpPr>
            <p:cNvPr id="10" name="Group 10"/>
            <p:cNvGrpSpPr/>
            <p:nvPr/>
          </p:nvGrpSpPr>
          <p:grpSpPr>
            <a:xfrm rot="-2700000">
              <a:off x="-77521" y="4363400"/>
              <a:ext cx="6535310" cy="2487752"/>
              <a:chOff x="0" y="0"/>
              <a:chExt cx="882773" cy="3360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3F6FA"/>
              </a:solidFill>
              <a:ln w="19050" cap="sq">
                <a:solidFill>
                  <a:srgbClr val="FDFFF8"/>
                </a:solidFill>
                <a:prstDash val="lgDash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52701" tIns="52701" rIns="52701" bIns="52701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2700000">
              <a:off x="681782" y="1946258"/>
              <a:ext cx="6535310" cy="2487752"/>
              <a:chOff x="0" y="0"/>
              <a:chExt cx="882773" cy="3360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52701" tIns="52701" rIns="52701" bIns="52701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439741" y="2319036"/>
            <a:ext cx="6389003" cy="5657272"/>
            <a:chOff x="0" y="0"/>
            <a:chExt cx="2429796" cy="21515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29796" cy="2151512"/>
            </a:xfrm>
            <a:custGeom>
              <a:avLst/>
              <a:gdLst/>
              <a:ahLst/>
              <a:cxnLst/>
              <a:rect l="l" t="t" r="r" b="b"/>
              <a:pathLst>
                <a:path w="2429796" h="2151512">
                  <a:moveTo>
                    <a:pt x="52106" y="0"/>
                  </a:moveTo>
                  <a:lnTo>
                    <a:pt x="2377691" y="0"/>
                  </a:lnTo>
                  <a:cubicBezTo>
                    <a:pt x="2406468" y="0"/>
                    <a:pt x="2429796" y="23328"/>
                    <a:pt x="2429796" y="52106"/>
                  </a:cubicBezTo>
                  <a:lnTo>
                    <a:pt x="2429796" y="2099407"/>
                  </a:lnTo>
                  <a:cubicBezTo>
                    <a:pt x="2429796" y="2113226"/>
                    <a:pt x="2424307" y="2126479"/>
                    <a:pt x="2414535" y="2136251"/>
                  </a:cubicBezTo>
                  <a:cubicBezTo>
                    <a:pt x="2404763" y="2146023"/>
                    <a:pt x="2391510" y="2151512"/>
                    <a:pt x="2377691" y="2151512"/>
                  </a:cubicBezTo>
                  <a:lnTo>
                    <a:pt x="52106" y="2151512"/>
                  </a:lnTo>
                  <a:cubicBezTo>
                    <a:pt x="23328" y="2151512"/>
                    <a:pt x="0" y="2128184"/>
                    <a:pt x="0" y="2099407"/>
                  </a:cubicBezTo>
                  <a:lnTo>
                    <a:pt x="0" y="52106"/>
                  </a:lnTo>
                  <a:cubicBezTo>
                    <a:pt x="0" y="23328"/>
                    <a:pt x="23328" y="0"/>
                    <a:pt x="52106" y="0"/>
                  </a:cubicBezTo>
                  <a:close/>
                </a:path>
              </a:pathLst>
            </a:custGeom>
            <a:solidFill>
              <a:srgbClr val="FCFBFD"/>
            </a:solidFill>
            <a:ln w="9525" cap="rnd">
              <a:solidFill>
                <a:srgbClr val="FDFFF8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429796" cy="2218187"/>
            </a:xfrm>
            <a:prstGeom prst="rect">
              <a:avLst/>
            </a:prstGeom>
          </p:spPr>
          <p:txBody>
            <a:bodyPr lIns="43161" tIns="43161" rIns="43161" bIns="43161" rtlCol="0" anchor="ctr"/>
            <a:lstStyle/>
            <a:p>
              <a:pPr marL="647700" lvl="1" indent="-323850" algn="ctr">
                <a:lnSpc>
                  <a:spcPts val="4200"/>
                </a:lnSpc>
                <a:buFont typeface="Arial"/>
                <a:buChar char="•"/>
              </a:pPr>
              <a:endParaRPr/>
            </a:p>
            <a:p>
              <a:pPr algn="ctr">
                <a:lnSpc>
                  <a:spcPts val="4199"/>
                </a:lnSpc>
              </a:pPr>
              <a:endParaRPr/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DFFF8"/>
                  </a:solidFill>
                  <a:latin typeface="Heebo"/>
                  <a:ea typeface="Heebo"/>
                  <a:cs typeface="Heebo"/>
                  <a:sym typeface="Heebo"/>
                </a:rPr>
                <a:t>ces données du marché du travail sont volumineuses et difficiles à exploiter.</a:t>
              </a:r>
            </a:p>
            <a:p>
              <a:pPr algn="ctr">
                <a:lnSpc>
                  <a:spcPts val="2100"/>
                </a:lnSpc>
              </a:pPr>
              <a:endParaRPr lang="en-US" sz="1500">
                <a:solidFill>
                  <a:srgbClr val="FDFFF8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0" y="2319036"/>
            <a:ext cx="6524540" cy="5657272"/>
            <a:chOff x="0" y="0"/>
            <a:chExt cx="2481342" cy="21515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81342" cy="2151512"/>
            </a:xfrm>
            <a:custGeom>
              <a:avLst/>
              <a:gdLst/>
              <a:ahLst/>
              <a:cxnLst/>
              <a:rect l="l" t="t" r="r" b="b"/>
              <a:pathLst>
                <a:path w="2481342" h="2151512">
                  <a:moveTo>
                    <a:pt x="51023" y="0"/>
                  </a:moveTo>
                  <a:lnTo>
                    <a:pt x="2430319" y="0"/>
                  </a:lnTo>
                  <a:cubicBezTo>
                    <a:pt x="2443851" y="0"/>
                    <a:pt x="2456829" y="5376"/>
                    <a:pt x="2466398" y="14944"/>
                  </a:cubicBezTo>
                  <a:cubicBezTo>
                    <a:pt x="2475967" y="24513"/>
                    <a:pt x="2481342" y="37491"/>
                    <a:pt x="2481342" y="51023"/>
                  </a:cubicBezTo>
                  <a:lnTo>
                    <a:pt x="2481342" y="2100489"/>
                  </a:lnTo>
                  <a:cubicBezTo>
                    <a:pt x="2481342" y="2114021"/>
                    <a:pt x="2475967" y="2126999"/>
                    <a:pt x="2466398" y="2136568"/>
                  </a:cubicBezTo>
                  <a:cubicBezTo>
                    <a:pt x="2456829" y="2146137"/>
                    <a:pt x="2443851" y="2151512"/>
                    <a:pt x="2430319" y="2151512"/>
                  </a:cubicBezTo>
                  <a:lnTo>
                    <a:pt x="51023" y="2151512"/>
                  </a:lnTo>
                  <a:cubicBezTo>
                    <a:pt x="37491" y="2151512"/>
                    <a:pt x="24513" y="2146137"/>
                    <a:pt x="14944" y="2136568"/>
                  </a:cubicBezTo>
                  <a:cubicBezTo>
                    <a:pt x="5376" y="2126999"/>
                    <a:pt x="0" y="2114021"/>
                    <a:pt x="0" y="2100489"/>
                  </a:cubicBezTo>
                  <a:lnTo>
                    <a:pt x="0" y="51023"/>
                  </a:lnTo>
                  <a:cubicBezTo>
                    <a:pt x="0" y="37491"/>
                    <a:pt x="5376" y="24513"/>
                    <a:pt x="14944" y="14944"/>
                  </a:cubicBezTo>
                  <a:cubicBezTo>
                    <a:pt x="24513" y="5376"/>
                    <a:pt x="37491" y="0"/>
                    <a:pt x="51023" y="0"/>
                  </a:cubicBezTo>
                  <a:close/>
                </a:path>
              </a:pathLst>
            </a:custGeom>
            <a:solidFill>
              <a:srgbClr val="FCFBFD"/>
            </a:solidFill>
            <a:ln w="9525" cap="rnd">
              <a:solidFill>
                <a:srgbClr val="FDFFF8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2481342" cy="2218187"/>
            </a:xfrm>
            <a:prstGeom prst="rect">
              <a:avLst/>
            </a:prstGeom>
          </p:spPr>
          <p:txBody>
            <a:bodyPr lIns="43161" tIns="43161" rIns="43161" bIns="43161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  <a:p>
              <a:pPr algn="ctr">
                <a:lnSpc>
                  <a:spcPts val="4199"/>
                </a:lnSpc>
              </a:pPr>
              <a:endParaRPr/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DFFF8"/>
                  </a:solidFill>
                  <a:latin typeface="Heebo"/>
                  <a:ea typeface="Heebo"/>
                  <a:cs typeface="Heebo"/>
                  <a:sym typeface="Heebo"/>
                </a:rPr>
                <a:t>c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819161"/>
            <a:ext cx="12617745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 spc="-60">
                <a:solidFill>
                  <a:srgbClr val="0B1320"/>
                </a:solidFill>
                <a:latin typeface="Heebo Heavy"/>
                <a:ea typeface="Heebo Heavy"/>
                <a:cs typeface="Heebo Heavy"/>
                <a:sym typeface="Heebo Heavy"/>
              </a:rPr>
              <a:t>PROBLÉMATIQUE &amp; OBJECTIFS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41635" y="2919284"/>
            <a:ext cx="4185214" cy="58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sz="3459" b="1">
                <a:solidFill>
                  <a:srgbClr val="004AAD"/>
                </a:solidFill>
                <a:latin typeface="Heebo Bold"/>
                <a:ea typeface="Heebo Bold"/>
                <a:cs typeface="Heebo Bold"/>
                <a:sym typeface="Heebo Bold"/>
              </a:rPr>
              <a:t>PROBLÉMATIQUE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41991" y="2919284"/>
            <a:ext cx="2885767" cy="58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sz="3459" b="1">
                <a:solidFill>
                  <a:srgbClr val="004AAD"/>
                </a:solidFill>
                <a:latin typeface="Heebo Bold"/>
                <a:ea typeface="Heebo Bold"/>
                <a:cs typeface="Heebo Bold"/>
                <a:sym typeface="Heebo Bold"/>
              </a:rPr>
              <a:t> OBJECTIFS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36643" y="3758332"/>
            <a:ext cx="5287109" cy="318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rPr>
              <a:t> Les données du marché du travail sont volumineuses et difficiles à exploiter.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1C3F60"/>
                </a:solidFill>
                <a:latin typeface="Heebo Bold"/>
                <a:ea typeface="Heebo Bold"/>
                <a:cs typeface="Heebo Bold"/>
                <a:sym typeface="Heebo Bold"/>
              </a:rPr>
              <a:t>Comment transformer ces données brutes en informations claires et utiles pour l’analyse et la prise de décision 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17125" y="3758332"/>
            <a:ext cx="5578290" cy="3639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rPr>
              <a:t>Mettre en place un pipeline data automatisé</a:t>
            </a:r>
          </a:p>
          <a:p>
            <a:pPr marL="561342" lvl="1" indent="-280671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rPr>
              <a:t>Nettoyer et structurer les données</a:t>
            </a:r>
          </a:p>
          <a:p>
            <a:pPr marL="561342" lvl="1" indent="-280671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rPr>
              <a:t>Analyser l’emploi et les salaires</a:t>
            </a:r>
          </a:p>
          <a:p>
            <a:pPr marL="561342" lvl="1" indent="-280671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rPr>
              <a:t>Créer un dashboard interactif</a:t>
            </a:r>
          </a:p>
          <a:p>
            <a:pPr marL="561342" lvl="1" indent="-280671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rPr>
              <a:t>Prédire les tendances avec le Machine Learning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B1320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9938884" y="2804534"/>
            <a:ext cx="703107" cy="703107"/>
          </a:xfrm>
          <a:custGeom>
            <a:avLst/>
            <a:gdLst/>
            <a:ahLst/>
            <a:cxnLst/>
            <a:rect l="l" t="t" r="r" b="b"/>
            <a:pathLst>
              <a:path w="703107" h="703107">
                <a:moveTo>
                  <a:pt x="0" y="0"/>
                </a:moveTo>
                <a:lnTo>
                  <a:pt x="703107" y="0"/>
                </a:lnTo>
                <a:lnTo>
                  <a:pt x="703107" y="703107"/>
                </a:lnTo>
                <a:lnTo>
                  <a:pt x="0" y="703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936643" y="2887433"/>
            <a:ext cx="507034" cy="718733"/>
          </a:xfrm>
          <a:custGeom>
            <a:avLst/>
            <a:gdLst/>
            <a:ahLst/>
            <a:cxnLst/>
            <a:rect l="l" t="t" r="r" b="b"/>
            <a:pathLst>
              <a:path w="507034" h="718733">
                <a:moveTo>
                  <a:pt x="0" y="0"/>
                </a:moveTo>
                <a:lnTo>
                  <a:pt x="507033" y="0"/>
                </a:lnTo>
                <a:lnTo>
                  <a:pt x="507033" y="718734"/>
                </a:lnTo>
                <a:lnTo>
                  <a:pt x="0" y="718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4918261" y="872827"/>
            <a:ext cx="4194716" cy="1596774"/>
            <a:chOff x="0" y="0"/>
            <a:chExt cx="882773" cy="3360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365679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</p:spPr>
          <p:txBody>
            <a:bodyPr lIns="64644" tIns="64644" rIns="64644" bIns="64644" rtlCol="0" anchor="ctr"/>
            <a:lstStyle/>
            <a:p>
              <a:pPr algn="ctr">
                <a:lnSpc>
                  <a:spcPts val="267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700000">
            <a:off x="15405623" y="-678626"/>
            <a:ext cx="4194716" cy="1596774"/>
            <a:chOff x="0" y="0"/>
            <a:chExt cx="882773" cy="3360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C3F60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</p:spPr>
          <p:txBody>
            <a:bodyPr lIns="64644" tIns="64644" rIns="64644" bIns="64644" rtlCol="0" anchor="ctr"/>
            <a:lstStyle/>
            <a:p>
              <a:pPr algn="ctr">
                <a:lnSpc>
                  <a:spcPts val="267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-1239808" y="7563628"/>
            <a:ext cx="5133443" cy="1954113"/>
            <a:chOff x="0" y="0"/>
            <a:chExt cx="882773" cy="3360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36567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110" tIns="79110" rIns="79110" bIns="79110" rtlCol="0" anchor="ctr"/>
            <a:lstStyle/>
            <a:p>
              <a:pPr algn="ctr">
                <a:lnSpc>
                  <a:spcPts val="327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700000">
            <a:off x="-1836235" y="9462277"/>
            <a:ext cx="5133443" cy="1954113"/>
            <a:chOff x="0" y="0"/>
            <a:chExt cx="882773" cy="3360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FC1D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110" tIns="79110" rIns="79110" bIns="79110" rtlCol="0" anchor="ctr"/>
            <a:lstStyle/>
            <a:p>
              <a:pPr algn="ctr">
                <a:lnSpc>
                  <a:spcPts val="327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9794" y="1908789"/>
            <a:ext cx="13825586" cy="3234711"/>
            <a:chOff x="0" y="0"/>
            <a:chExt cx="18434114" cy="4312948"/>
          </a:xfrm>
        </p:grpSpPr>
        <p:grpSp>
          <p:nvGrpSpPr>
            <p:cNvPr id="15" name="Group 15"/>
            <p:cNvGrpSpPr/>
            <p:nvPr/>
          </p:nvGrpSpPr>
          <p:grpSpPr>
            <a:xfrm>
              <a:off x="411689" y="0"/>
              <a:ext cx="3031283" cy="3031283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FC1D0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8177" tIns="48177" rIns="48177" bIns="48177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1214984" y="731782"/>
              <a:ext cx="1424693" cy="1424693"/>
            </a:xfrm>
            <a:custGeom>
              <a:avLst/>
              <a:gdLst/>
              <a:ahLst/>
              <a:cxnLst/>
              <a:rect l="l" t="t" r="r" b="b"/>
              <a:pathLst>
                <a:path w="1424693" h="1424693">
                  <a:moveTo>
                    <a:pt x="0" y="0"/>
                  </a:moveTo>
                  <a:lnTo>
                    <a:pt x="1424693" y="0"/>
                  </a:lnTo>
                  <a:lnTo>
                    <a:pt x="1424693" y="1424692"/>
                  </a:lnTo>
                  <a:lnTo>
                    <a:pt x="0" y="1424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3698608"/>
              <a:ext cx="3854661" cy="61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sz="2750" b="1">
                  <a:solidFill>
                    <a:srgbClr val="0B132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Python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272435" y="0"/>
              <a:ext cx="3031283" cy="3031283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FC1D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8177" tIns="48177" rIns="48177" bIns="48177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860746" y="3698608"/>
              <a:ext cx="3854661" cy="61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sz="2750" b="1">
                  <a:solidFill>
                    <a:srgbClr val="0B132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PySpark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21492" y="3698608"/>
              <a:ext cx="3854661" cy="61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sz="2750" b="1">
                  <a:solidFill>
                    <a:srgbClr val="0B132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Databricks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0133181" y="0"/>
              <a:ext cx="3031283" cy="3031283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FC1D0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8177" tIns="48177" rIns="48177" bIns="48177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10722082" y="647590"/>
              <a:ext cx="1853482" cy="1593076"/>
            </a:xfrm>
            <a:custGeom>
              <a:avLst/>
              <a:gdLst/>
              <a:ahLst/>
              <a:cxnLst/>
              <a:rect l="l" t="t" r="r" b="b"/>
              <a:pathLst>
                <a:path w="1853482" h="1593076">
                  <a:moveTo>
                    <a:pt x="0" y="0"/>
                  </a:moveTo>
                  <a:lnTo>
                    <a:pt x="1853482" y="0"/>
                  </a:lnTo>
                  <a:lnTo>
                    <a:pt x="1853482" y="1593076"/>
                  </a:lnTo>
                  <a:lnTo>
                    <a:pt x="0" y="1593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29" name="Group 29"/>
            <p:cNvGrpSpPr/>
            <p:nvPr/>
          </p:nvGrpSpPr>
          <p:grpSpPr>
            <a:xfrm>
              <a:off x="14991142" y="0"/>
              <a:ext cx="3031283" cy="3031283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FC1D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8177" tIns="48177" rIns="48177" bIns="48177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4579453" y="3698608"/>
              <a:ext cx="3854661" cy="61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sz="2750" b="1">
                  <a:solidFill>
                    <a:srgbClr val="0B132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Delta Lake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5739595" y="647590"/>
              <a:ext cx="1534377" cy="1534377"/>
            </a:xfrm>
            <a:custGeom>
              <a:avLst/>
              <a:gdLst/>
              <a:ahLst/>
              <a:cxnLst/>
              <a:rect l="l" t="t" r="r" b="b"/>
              <a:pathLst>
                <a:path w="1534377" h="1534377">
                  <a:moveTo>
                    <a:pt x="0" y="0"/>
                  </a:moveTo>
                  <a:lnTo>
                    <a:pt x="1534377" y="0"/>
                  </a:lnTo>
                  <a:lnTo>
                    <a:pt x="1534377" y="1534377"/>
                  </a:lnTo>
                  <a:lnTo>
                    <a:pt x="0" y="1534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5691696" y="1017925"/>
              <a:ext cx="2192761" cy="1138549"/>
            </a:xfrm>
            <a:custGeom>
              <a:avLst/>
              <a:gdLst/>
              <a:ahLst/>
              <a:cxnLst/>
              <a:rect l="l" t="t" r="r" b="b"/>
              <a:pathLst>
                <a:path w="2192761" h="1138549">
                  <a:moveTo>
                    <a:pt x="0" y="0"/>
                  </a:moveTo>
                  <a:lnTo>
                    <a:pt x="2192761" y="0"/>
                  </a:lnTo>
                  <a:lnTo>
                    <a:pt x="2192761" y="1138549"/>
                  </a:lnTo>
                  <a:lnTo>
                    <a:pt x="0" y="1138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5376920" y="5671115"/>
            <a:ext cx="2814489" cy="3149108"/>
            <a:chOff x="0" y="0"/>
            <a:chExt cx="3752652" cy="4198811"/>
          </a:xfrm>
        </p:grpSpPr>
        <p:grpSp>
          <p:nvGrpSpPr>
            <p:cNvPr id="36" name="Group 36"/>
            <p:cNvGrpSpPr/>
            <p:nvPr/>
          </p:nvGrpSpPr>
          <p:grpSpPr>
            <a:xfrm>
              <a:off x="400794" y="0"/>
              <a:ext cx="2951063" cy="2951063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FC1D0"/>
                </a:solidFill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0" y="3608741"/>
              <a:ext cx="3752652" cy="590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8"/>
                </a:lnSpc>
              </a:pPr>
              <a:r>
                <a:rPr lang="en-US" sz="2677" b="1">
                  <a:solidFill>
                    <a:srgbClr val="0B132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SQL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11620" y="997887"/>
              <a:ext cx="1929411" cy="1101518"/>
            </a:xfrm>
            <a:custGeom>
              <a:avLst/>
              <a:gdLst/>
              <a:ahLst/>
              <a:cxnLst/>
              <a:rect l="l" t="t" r="r" b="b"/>
              <a:pathLst>
                <a:path w="1929411" h="1101518">
                  <a:moveTo>
                    <a:pt x="0" y="0"/>
                  </a:moveTo>
                  <a:lnTo>
                    <a:pt x="1929411" y="0"/>
                  </a:lnTo>
                  <a:lnTo>
                    <a:pt x="1929411" y="1101518"/>
                  </a:lnTo>
                  <a:lnTo>
                    <a:pt x="0" y="1101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9132391" y="5756620"/>
            <a:ext cx="2738068" cy="3063602"/>
            <a:chOff x="0" y="0"/>
            <a:chExt cx="3650758" cy="4084803"/>
          </a:xfrm>
        </p:grpSpPr>
        <p:grpSp>
          <p:nvGrpSpPr>
            <p:cNvPr id="42" name="Group 42"/>
            <p:cNvGrpSpPr/>
            <p:nvPr/>
          </p:nvGrpSpPr>
          <p:grpSpPr>
            <a:xfrm>
              <a:off x="389912" y="0"/>
              <a:ext cx="2870934" cy="2870934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FC1D0"/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0" y="3509462"/>
              <a:ext cx="3650758" cy="575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6"/>
                </a:lnSpc>
              </a:pPr>
              <a:r>
                <a:rPr lang="en-US" sz="2604" b="1">
                  <a:solidFill>
                    <a:srgbClr val="0B132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Scikit-learn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72023" y="553241"/>
              <a:ext cx="1906712" cy="1906712"/>
            </a:xfrm>
            <a:custGeom>
              <a:avLst/>
              <a:gdLst/>
              <a:ahLst/>
              <a:cxnLst/>
              <a:rect l="l" t="t" r="r" b="b"/>
              <a:pathLst>
                <a:path w="1906712" h="1906712">
                  <a:moveTo>
                    <a:pt x="0" y="0"/>
                  </a:moveTo>
                  <a:lnTo>
                    <a:pt x="1906712" y="0"/>
                  </a:lnTo>
                  <a:lnTo>
                    <a:pt x="1906712" y="1906712"/>
                  </a:lnTo>
                  <a:lnTo>
                    <a:pt x="0" y="1906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2637162" y="5756620"/>
            <a:ext cx="3049695" cy="3501680"/>
            <a:chOff x="0" y="0"/>
            <a:chExt cx="4066260" cy="4668906"/>
          </a:xfrm>
        </p:grpSpPr>
        <p:grpSp>
          <p:nvGrpSpPr>
            <p:cNvPr id="48" name="Group 48"/>
            <p:cNvGrpSpPr/>
            <p:nvPr/>
          </p:nvGrpSpPr>
          <p:grpSpPr>
            <a:xfrm>
              <a:off x="629590" y="0"/>
              <a:ext cx="2932585" cy="293258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FC1D0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6608" tIns="46608" rIns="46608" bIns="46608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51" name="Freeform 51"/>
            <p:cNvSpPr/>
            <p:nvPr/>
          </p:nvSpPr>
          <p:spPr>
            <a:xfrm>
              <a:off x="1157500" y="694616"/>
              <a:ext cx="1605698" cy="1605698"/>
            </a:xfrm>
            <a:custGeom>
              <a:avLst/>
              <a:gdLst/>
              <a:ahLst/>
              <a:cxnLst/>
              <a:rect l="l" t="t" r="r" b="b"/>
              <a:pathLst>
                <a:path w="1605698" h="1605698">
                  <a:moveTo>
                    <a:pt x="0" y="0"/>
                  </a:moveTo>
                  <a:lnTo>
                    <a:pt x="1605697" y="0"/>
                  </a:lnTo>
                  <a:lnTo>
                    <a:pt x="1605697" y="1605698"/>
                  </a:lnTo>
                  <a:lnTo>
                    <a:pt x="0" y="1605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3443550"/>
              <a:ext cx="4066260" cy="1225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24"/>
                </a:lnSpc>
              </a:pPr>
              <a:r>
                <a:rPr lang="en-US" sz="2660" b="1">
                  <a:solidFill>
                    <a:srgbClr val="0B132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Jira &amp; Confluence</a:t>
              </a:r>
            </a:p>
            <a:p>
              <a:pPr algn="ctr">
                <a:lnSpc>
                  <a:spcPts val="3724"/>
                </a:lnSpc>
              </a:pPr>
              <a:endParaRPr lang="en-US" sz="2660" b="1">
                <a:solidFill>
                  <a:srgbClr val="0B1320"/>
                </a:solidFill>
                <a:latin typeface="Heebo Bold"/>
                <a:ea typeface="Heebo Bold"/>
                <a:cs typeface="Heebo Bold"/>
                <a:sym typeface="Heebo Bold"/>
              </a:endParaR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28700" y="619114"/>
            <a:ext cx="12633847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 spc="-60">
                <a:solidFill>
                  <a:srgbClr val="002C4B"/>
                </a:solidFill>
                <a:latin typeface="Heebo Heavy"/>
                <a:ea typeface="Heebo Heavy"/>
                <a:cs typeface="Heebo Heavy"/>
                <a:sym typeface="Heebo Heavy"/>
              </a:rPr>
              <a:t>OUTILS ET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0220" y="6077594"/>
            <a:ext cx="17259300" cy="3646303"/>
          </a:xfrm>
          <a:custGeom>
            <a:avLst/>
            <a:gdLst/>
            <a:ahLst/>
            <a:cxnLst/>
            <a:rect l="l" t="t" r="r" b="b"/>
            <a:pathLst>
              <a:path w="17259300" h="3646303">
                <a:moveTo>
                  <a:pt x="0" y="0"/>
                </a:moveTo>
                <a:lnTo>
                  <a:pt x="17259300" y="0"/>
                </a:lnTo>
                <a:lnTo>
                  <a:pt x="17259300" y="3646302"/>
                </a:lnTo>
                <a:lnTo>
                  <a:pt x="0" y="364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2194" b="-10316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942003" y="-1888292"/>
            <a:ext cx="6008813" cy="7404085"/>
            <a:chOff x="0" y="0"/>
            <a:chExt cx="8011750" cy="9872113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765070" y="2184015"/>
              <a:ext cx="7333671" cy="2791659"/>
              <a:chOff x="0" y="0"/>
              <a:chExt cx="882773" cy="33603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AFC1D0"/>
                </a:solidFill>
                <a:prstDash val="sysDot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66675"/>
                <a:ext cx="882773" cy="402714"/>
              </a:xfrm>
              <a:prstGeom prst="rect">
                <a:avLst/>
              </a:prstGeom>
            </p:spPr>
            <p:txBody>
              <a:bodyPr lIns="122125" tIns="122125" rIns="122125" bIns="122125" rtlCol="0" anchor="ctr"/>
              <a:lstStyle/>
              <a:p>
                <a:pPr algn="ctr">
                  <a:lnSpc>
                    <a:spcPts val="5048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-86991" y="4896438"/>
              <a:ext cx="7333671" cy="2791659"/>
              <a:chOff x="0" y="0"/>
              <a:chExt cx="882773" cy="33603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B13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882773" cy="402714"/>
              </a:xfrm>
              <a:prstGeom prst="rect">
                <a:avLst/>
              </a:prstGeom>
            </p:spPr>
            <p:txBody>
              <a:bodyPr lIns="122125" tIns="122125" rIns="122125" bIns="122125" rtlCol="0" anchor="ctr"/>
              <a:lstStyle/>
              <a:p>
                <a:pPr algn="ctr">
                  <a:lnSpc>
                    <a:spcPts val="5048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030370" y="2857338"/>
            <a:ext cx="3149878" cy="2843352"/>
            <a:chOff x="0" y="0"/>
            <a:chExt cx="1222629" cy="11036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2629" cy="1103651"/>
            </a:xfrm>
            <a:custGeom>
              <a:avLst/>
              <a:gdLst/>
              <a:ahLst/>
              <a:cxnLst/>
              <a:rect l="l" t="t" r="r" b="b"/>
              <a:pathLst>
                <a:path w="1222629" h="1103651">
                  <a:moveTo>
                    <a:pt x="108145" y="0"/>
                  </a:moveTo>
                  <a:lnTo>
                    <a:pt x="1114484" y="0"/>
                  </a:lnTo>
                  <a:cubicBezTo>
                    <a:pt x="1174211" y="0"/>
                    <a:pt x="1222629" y="48418"/>
                    <a:pt x="1222629" y="108145"/>
                  </a:cubicBezTo>
                  <a:lnTo>
                    <a:pt x="1222629" y="995505"/>
                  </a:lnTo>
                  <a:cubicBezTo>
                    <a:pt x="1222629" y="1024187"/>
                    <a:pt x="1211235" y="1051694"/>
                    <a:pt x="1190954" y="1071976"/>
                  </a:cubicBezTo>
                  <a:cubicBezTo>
                    <a:pt x="1170673" y="1092257"/>
                    <a:pt x="1143166" y="1103651"/>
                    <a:pt x="1114484" y="1103651"/>
                  </a:cubicBezTo>
                  <a:lnTo>
                    <a:pt x="108145" y="1103651"/>
                  </a:lnTo>
                  <a:cubicBezTo>
                    <a:pt x="48418" y="1103651"/>
                    <a:pt x="0" y="1055232"/>
                    <a:pt x="0" y="995505"/>
                  </a:cubicBezTo>
                  <a:lnTo>
                    <a:pt x="0" y="108145"/>
                  </a:lnTo>
                  <a:cubicBezTo>
                    <a:pt x="0" y="48418"/>
                    <a:pt x="48418" y="0"/>
                    <a:pt x="108145" y="0"/>
                  </a:cubicBezTo>
                  <a:close/>
                </a:path>
              </a:pathLst>
            </a:custGeom>
            <a:solidFill>
              <a:srgbClr val="FCFBFD"/>
            </a:solidFill>
            <a:ln w="28575" cap="rnd">
              <a:solidFill>
                <a:srgbClr val="AFC1D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22629" cy="1141751"/>
            </a:xfrm>
            <a:prstGeom prst="rect">
              <a:avLst/>
            </a:prstGeom>
          </p:spPr>
          <p:txBody>
            <a:bodyPr lIns="42289" tIns="42289" rIns="42289" bIns="42289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DFFF8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SoSourcrce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69124" y="3224978"/>
            <a:ext cx="430893" cy="352549"/>
          </a:xfrm>
          <a:custGeom>
            <a:avLst/>
            <a:gdLst/>
            <a:ahLst/>
            <a:cxnLst/>
            <a:rect l="l" t="t" r="r" b="b"/>
            <a:pathLst>
              <a:path w="430893" h="352549">
                <a:moveTo>
                  <a:pt x="0" y="0"/>
                </a:moveTo>
                <a:lnTo>
                  <a:pt x="430893" y="0"/>
                </a:lnTo>
                <a:lnTo>
                  <a:pt x="430893" y="352549"/>
                </a:lnTo>
                <a:lnTo>
                  <a:pt x="0" y="352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1814572" y="3264797"/>
            <a:ext cx="952444" cy="33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004AAD"/>
                </a:solidFill>
                <a:latin typeface="Heebo Bold"/>
                <a:ea typeface="Heebo Bold"/>
                <a:cs typeface="Heebo Bold"/>
                <a:sym typeface="Heebo Bold"/>
              </a:rPr>
              <a:t>SOURCE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9124" y="3768133"/>
            <a:ext cx="2668477" cy="33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rPr>
              <a:t>Ingestion des données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176930"/>
            <a:ext cx="3151548" cy="121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Scripts Python 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Données BLS QCEW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Scripts Python (Requests, Zipfile)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385565" y="2857338"/>
            <a:ext cx="3149878" cy="2843352"/>
            <a:chOff x="0" y="0"/>
            <a:chExt cx="1222629" cy="11036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2629" cy="1103651"/>
            </a:xfrm>
            <a:custGeom>
              <a:avLst/>
              <a:gdLst/>
              <a:ahLst/>
              <a:cxnLst/>
              <a:rect l="l" t="t" r="r" b="b"/>
              <a:pathLst>
                <a:path w="1222629" h="1103651">
                  <a:moveTo>
                    <a:pt x="108145" y="0"/>
                  </a:moveTo>
                  <a:lnTo>
                    <a:pt x="1114484" y="0"/>
                  </a:lnTo>
                  <a:cubicBezTo>
                    <a:pt x="1174211" y="0"/>
                    <a:pt x="1222629" y="48418"/>
                    <a:pt x="1222629" y="108145"/>
                  </a:cubicBezTo>
                  <a:lnTo>
                    <a:pt x="1222629" y="995505"/>
                  </a:lnTo>
                  <a:cubicBezTo>
                    <a:pt x="1222629" y="1024187"/>
                    <a:pt x="1211235" y="1051694"/>
                    <a:pt x="1190954" y="1071976"/>
                  </a:cubicBezTo>
                  <a:cubicBezTo>
                    <a:pt x="1170673" y="1092257"/>
                    <a:pt x="1143166" y="1103651"/>
                    <a:pt x="1114484" y="1103651"/>
                  </a:cubicBezTo>
                  <a:lnTo>
                    <a:pt x="108145" y="1103651"/>
                  </a:lnTo>
                  <a:cubicBezTo>
                    <a:pt x="48418" y="1103651"/>
                    <a:pt x="0" y="1055232"/>
                    <a:pt x="0" y="995505"/>
                  </a:cubicBezTo>
                  <a:lnTo>
                    <a:pt x="0" y="108145"/>
                  </a:lnTo>
                  <a:cubicBezTo>
                    <a:pt x="0" y="48418"/>
                    <a:pt x="48418" y="0"/>
                    <a:pt x="108145" y="0"/>
                  </a:cubicBezTo>
                  <a:close/>
                </a:path>
              </a:pathLst>
            </a:custGeom>
            <a:solidFill>
              <a:srgbClr val="FCFBFD"/>
            </a:solidFill>
            <a:ln w="28575" cap="rnd">
              <a:solidFill>
                <a:srgbClr val="AFC1D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22629" cy="1141751"/>
            </a:xfrm>
            <a:prstGeom prst="rect">
              <a:avLst/>
            </a:prstGeom>
          </p:spPr>
          <p:txBody>
            <a:bodyPr lIns="42289" tIns="42289" rIns="42289" bIns="42289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DFFF8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SoSourcrce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169766" y="3264797"/>
            <a:ext cx="1023705" cy="33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004AAD"/>
                </a:solidFill>
                <a:latin typeface="Heebo Bold"/>
                <a:ea typeface="Heebo Bold"/>
                <a:cs typeface="Heebo Bold"/>
                <a:sym typeface="Heebo Bold"/>
              </a:rPr>
              <a:t>BRONZE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24319" y="3768133"/>
            <a:ext cx="1902708" cy="33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rPr>
              <a:t> Données brutes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95885" y="4176930"/>
            <a:ext cx="2908902" cy="152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Stockage des données brutes (CSV)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Tables Delta Lake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Partition par Année</a:t>
            </a:r>
          </a:p>
          <a:p>
            <a:pPr algn="l">
              <a:lnSpc>
                <a:spcPts val="2469"/>
              </a:lnSpc>
            </a:pPr>
            <a:endParaRPr lang="en-US" sz="1763">
              <a:solidFill>
                <a:srgbClr val="365679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4647629" y="3248785"/>
            <a:ext cx="331186" cy="349620"/>
          </a:xfrm>
          <a:custGeom>
            <a:avLst/>
            <a:gdLst/>
            <a:ahLst/>
            <a:cxnLst/>
            <a:rect l="l" t="t" r="r" b="b"/>
            <a:pathLst>
              <a:path w="331186" h="349620">
                <a:moveTo>
                  <a:pt x="0" y="0"/>
                </a:moveTo>
                <a:lnTo>
                  <a:pt x="331186" y="0"/>
                </a:lnTo>
                <a:lnTo>
                  <a:pt x="331186" y="349621"/>
                </a:lnTo>
                <a:lnTo>
                  <a:pt x="0" y="3496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4" name="Group 24"/>
          <p:cNvGrpSpPr/>
          <p:nvPr/>
        </p:nvGrpSpPr>
        <p:grpSpPr>
          <a:xfrm>
            <a:off x="7740759" y="2857338"/>
            <a:ext cx="3149878" cy="2843352"/>
            <a:chOff x="0" y="0"/>
            <a:chExt cx="1222629" cy="110365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22629" cy="1103651"/>
            </a:xfrm>
            <a:custGeom>
              <a:avLst/>
              <a:gdLst/>
              <a:ahLst/>
              <a:cxnLst/>
              <a:rect l="l" t="t" r="r" b="b"/>
              <a:pathLst>
                <a:path w="1222629" h="1103651">
                  <a:moveTo>
                    <a:pt x="108145" y="0"/>
                  </a:moveTo>
                  <a:lnTo>
                    <a:pt x="1114484" y="0"/>
                  </a:lnTo>
                  <a:cubicBezTo>
                    <a:pt x="1174211" y="0"/>
                    <a:pt x="1222629" y="48418"/>
                    <a:pt x="1222629" y="108145"/>
                  </a:cubicBezTo>
                  <a:lnTo>
                    <a:pt x="1222629" y="995505"/>
                  </a:lnTo>
                  <a:cubicBezTo>
                    <a:pt x="1222629" y="1024187"/>
                    <a:pt x="1211235" y="1051694"/>
                    <a:pt x="1190954" y="1071976"/>
                  </a:cubicBezTo>
                  <a:cubicBezTo>
                    <a:pt x="1170673" y="1092257"/>
                    <a:pt x="1143166" y="1103651"/>
                    <a:pt x="1114484" y="1103651"/>
                  </a:cubicBezTo>
                  <a:lnTo>
                    <a:pt x="108145" y="1103651"/>
                  </a:lnTo>
                  <a:cubicBezTo>
                    <a:pt x="48418" y="1103651"/>
                    <a:pt x="0" y="1055232"/>
                    <a:pt x="0" y="995505"/>
                  </a:cubicBezTo>
                  <a:lnTo>
                    <a:pt x="0" y="108145"/>
                  </a:lnTo>
                  <a:cubicBezTo>
                    <a:pt x="0" y="48418"/>
                    <a:pt x="48418" y="0"/>
                    <a:pt x="108145" y="0"/>
                  </a:cubicBezTo>
                  <a:close/>
                </a:path>
              </a:pathLst>
            </a:custGeom>
            <a:solidFill>
              <a:srgbClr val="FCFBFD"/>
            </a:solidFill>
            <a:ln w="28575" cap="rnd">
              <a:solidFill>
                <a:srgbClr val="AFC1D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22629" cy="1141751"/>
            </a:xfrm>
            <a:prstGeom prst="rect">
              <a:avLst/>
            </a:prstGeom>
          </p:spPr>
          <p:txBody>
            <a:bodyPr lIns="42289" tIns="42289" rIns="42289" bIns="42289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DFFF8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SoSourcrce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979514" y="3768133"/>
            <a:ext cx="2576022" cy="33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rPr>
              <a:t>Données nettoyées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13074" y="4096488"/>
            <a:ext cx="2908902" cy="121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Traitement avec spark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Nettoyage et Typage des données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Normalisation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02071" y="3275841"/>
            <a:ext cx="333093" cy="349620"/>
          </a:xfrm>
          <a:custGeom>
            <a:avLst/>
            <a:gdLst/>
            <a:ahLst/>
            <a:cxnLst/>
            <a:rect l="l" t="t" r="r" b="b"/>
            <a:pathLst>
              <a:path w="333093" h="349620">
                <a:moveTo>
                  <a:pt x="0" y="0"/>
                </a:moveTo>
                <a:lnTo>
                  <a:pt x="333093" y="0"/>
                </a:lnTo>
                <a:lnTo>
                  <a:pt x="333093" y="349621"/>
                </a:lnTo>
                <a:lnTo>
                  <a:pt x="0" y="3496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TextBox 30"/>
          <p:cNvSpPr txBox="1"/>
          <p:nvPr/>
        </p:nvSpPr>
        <p:spPr>
          <a:xfrm>
            <a:off x="8447155" y="3264797"/>
            <a:ext cx="1023705" cy="33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004AAD"/>
                </a:solidFill>
                <a:latin typeface="Heebo Bold"/>
                <a:ea typeface="Heebo Bold"/>
                <a:cs typeface="Heebo Bold"/>
                <a:sym typeface="Heebo Bold"/>
              </a:rPr>
              <a:t>SILVER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095954" y="2857338"/>
            <a:ext cx="3149878" cy="2843352"/>
            <a:chOff x="0" y="0"/>
            <a:chExt cx="1222629" cy="11036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22629" cy="1103651"/>
            </a:xfrm>
            <a:custGeom>
              <a:avLst/>
              <a:gdLst/>
              <a:ahLst/>
              <a:cxnLst/>
              <a:rect l="l" t="t" r="r" b="b"/>
              <a:pathLst>
                <a:path w="1222629" h="1103651">
                  <a:moveTo>
                    <a:pt x="108145" y="0"/>
                  </a:moveTo>
                  <a:lnTo>
                    <a:pt x="1114484" y="0"/>
                  </a:lnTo>
                  <a:cubicBezTo>
                    <a:pt x="1174211" y="0"/>
                    <a:pt x="1222629" y="48418"/>
                    <a:pt x="1222629" y="108145"/>
                  </a:cubicBezTo>
                  <a:lnTo>
                    <a:pt x="1222629" y="995505"/>
                  </a:lnTo>
                  <a:cubicBezTo>
                    <a:pt x="1222629" y="1024187"/>
                    <a:pt x="1211235" y="1051694"/>
                    <a:pt x="1190954" y="1071976"/>
                  </a:cubicBezTo>
                  <a:cubicBezTo>
                    <a:pt x="1170673" y="1092257"/>
                    <a:pt x="1143166" y="1103651"/>
                    <a:pt x="1114484" y="1103651"/>
                  </a:cubicBezTo>
                  <a:lnTo>
                    <a:pt x="108145" y="1103651"/>
                  </a:lnTo>
                  <a:cubicBezTo>
                    <a:pt x="48418" y="1103651"/>
                    <a:pt x="0" y="1055232"/>
                    <a:pt x="0" y="995505"/>
                  </a:cubicBezTo>
                  <a:lnTo>
                    <a:pt x="0" y="108145"/>
                  </a:lnTo>
                  <a:cubicBezTo>
                    <a:pt x="0" y="48418"/>
                    <a:pt x="48418" y="0"/>
                    <a:pt x="108145" y="0"/>
                  </a:cubicBezTo>
                  <a:close/>
                </a:path>
              </a:pathLst>
            </a:custGeom>
            <a:solidFill>
              <a:srgbClr val="FCFBFD"/>
            </a:solidFill>
            <a:ln w="28575" cap="rnd">
              <a:solidFill>
                <a:srgbClr val="AFC1D0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222629" cy="1141751"/>
            </a:xfrm>
            <a:prstGeom prst="rect">
              <a:avLst/>
            </a:prstGeom>
          </p:spPr>
          <p:txBody>
            <a:bodyPr lIns="42289" tIns="42289" rIns="42289" bIns="42289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DFFF8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SoSourcrce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809840" y="3264797"/>
            <a:ext cx="952444" cy="33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004AAD"/>
                </a:solidFill>
                <a:latin typeface="Heebo Bold"/>
                <a:ea typeface="Heebo Bold"/>
                <a:cs typeface="Heebo Bold"/>
                <a:sym typeface="Heebo Bold"/>
              </a:rPr>
              <a:t>GOLD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34708" y="3768133"/>
            <a:ext cx="2545417" cy="33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rPr>
              <a:t>Couche analytique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07945" y="4096488"/>
            <a:ext cx="3037888" cy="121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Analyse via SQL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 Calcul des KPIs métiers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Tables Agrégées optimisées</a:t>
            </a:r>
          </a:p>
        </p:txBody>
      </p:sp>
      <p:sp>
        <p:nvSpPr>
          <p:cNvPr id="37" name="Freeform 37"/>
          <p:cNvSpPr/>
          <p:nvPr/>
        </p:nvSpPr>
        <p:spPr>
          <a:xfrm>
            <a:off x="11369267" y="3220252"/>
            <a:ext cx="286533" cy="460799"/>
          </a:xfrm>
          <a:custGeom>
            <a:avLst/>
            <a:gdLst/>
            <a:ahLst/>
            <a:cxnLst/>
            <a:rect l="l" t="t" r="r" b="b"/>
            <a:pathLst>
              <a:path w="286533" h="460799">
                <a:moveTo>
                  <a:pt x="0" y="0"/>
                </a:moveTo>
                <a:lnTo>
                  <a:pt x="286533" y="0"/>
                </a:lnTo>
                <a:lnTo>
                  <a:pt x="286533" y="460799"/>
                </a:lnTo>
                <a:lnTo>
                  <a:pt x="0" y="460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8" name="Group 38"/>
          <p:cNvGrpSpPr/>
          <p:nvPr/>
        </p:nvGrpSpPr>
        <p:grpSpPr>
          <a:xfrm>
            <a:off x="14451149" y="2857338"/>
            <a:ext cx="3149878" cy="2843352"/>
            <a:chOff x="0" y="0"/>
            <a:chExt cx="1222629" cy="110365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22629" cy="1103651"/>
            </a:xfrm>
            <a:custGeom>
              <a:avLst/>
              <a:gdLst/>
              <a:ahLst/>
              <a:cxnLst/>
              <a:rect l="l" t="t" r="r" b="b"/>
              <a:pathLst>
                <a:path w="1222629" h="1103651">
                  <a:moveTo>
                    <a:pt x="108145" y="0"/>
                  </a:moveTo>
                  <a:lnTo>
                    <a:pt x="1114484" y="0"/>
                  </a:lnTo>
                  <a:cubicBezTo>
                    <a:pt x="1174211" y="0"/>
                    <a:pt x="1222629" y="48418"/>
                    <a:pt x="1222629" y="108145"/>
                  </a:cubicBezTo>
                  <a:lnTo>
                    <a:pt x="1222629" y="995505"/>
                  </a:lnTo>
                  <a:cubicBezTo>
                    <a:pt x="1222629" y="1024187"/>
                    <a:pt x="1211235" y="1051694"/>
                    <a:pt x="1190954" y="1071976"/>
                  </a:cubicBezTo>
                  <a:cubicBezTo>
                    <a:pt x="1170673" y="1092257"/>
                    <a:pt x="1143166" y="1103651"/>
                    <a:pt x="1114484" y="1103651"/>
                  </a:cubicBezTo>
                  <a:lnTo>
                    <a:pt x="108145" y="1103651"/>
                  </a:lnTo>
                  <a:cubicBezTo>
                    <a:pt x="48418" y="1103651"/>
                    <a:pt x="0" y="1055232"/>
                    <a:pt x="0" y="995505"/>
                  </a:cubicBezTo>
                  <a:lnTo>
                    <a:pt x="0" y="108145"/>
                  </a:lnTo>
                  <a:cubicBezTo>
                    <a:pt x="0" y="48418"/>
                    <a:pt x="48418" y="0"/>
                    <a:pt x="108145" y="0"/>
                  </a:cubicBezTo>
                  <a:close/>
                </a:path>
              </a:pathLst>
            </a:custGeom>
            <a:solidFill>
              <a:srgbClr val="FCFBFD"/>
            </a:solidFill>
            <a:ln w="28575" cap="rnd">
              <a:solidFill>
                <a:srgbClr val="AFC1D0"/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222629" cy="1141751"/>
            </a:xfrm>
            <a:prstGeom prst="rect">
              <a:avLst/>
            </a:prstGeom>
          </p:spPr>
          <p:txBody>
            <a:bodyPr lIns="42289" tIns="42289" rIns="42289" bIns="42289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DFFF8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SoSourcrce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4712460" y="3255510"/>
            <a:ext cx="356932" cy="390283"/>
          </a:xfrm>
          <a:custGeom>
            <a:avLst/>
            <a:gdLst/>
            <a:ahLst/>
            <a:cxnLst/>
            <a:rect l="l" t="t" r="r" b="b"/>
            <a:pathLst>
              <a:path w="356932" h="390283">
                <a:moveTo>
                  <a:pt x="0" y="0"/>
                </a:moveTo>
                <a:lnTo>
                  <a:pt x="356932" y="0"/>
                </a:lnTo>
                <a:lnTo>
                  <a:pt x="356932" y="390283"/>
                </a:lnTo>
                <a:lnTo>
                  <a:pt x="0" y="390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TextBox 42"/>
          <p:cNvSpPr txBox="1"/>
          <p:nvPr/>
        </p:nvSpPr>
        <p:spPr>
          <a:xfrm>
            <a:off x="15235350" y="3264797"/>
            <a:ext cx="1771691" cy="33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004AAD"/>
                </a:solidFill>
                <a:latin typeface="Heebo Bold"/>
                <a:ea typeface="Heebo Bold"/>
                <a:cs typeface="Heebo Bold"/>
                <a:sym typeface="Heebo Bold"/>
              </a:rPr>
              <a:t>CONSUMERS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689903" y="3768133"/>
            <a:ext cx="1902708" cy="33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sz="1959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rPr>
              <a:t>Exploitation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581805" y="4096488"/>
            <a:ext cx="2889863" cy="121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Dashboards interactifs (Databricks SQL)</a:t>
            </a:r>
          </a:p>
          <a:p>
            <a:pPr marL="380768" lvl="1" indent="-190384" algn="l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rPr>
              <a:t>Modèles Machine Learning (Scikit-Learn)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3066810" y="676455"/>
            <a:ext cx="12617745" cy="2274592"/>
            <a:chOff x="0" y="0"/>
            <a:chExt cx="16823660" cy="3032789"/>
          </a:xfrm>
        </p:grpSpPr>
        <p:sp>
          <p:nvSpPr>
            <p:cNvPr id="46" name="TextBox 46"/>
            <p:cNvSpPr txBox="1"/>
            <p:nvPr/>
          </p:nvSpPr>
          <p:spPr>
            <a:xfrm>
              <a:off x="0" y="1171605"/>
              <a:ext cx="16823660" cy="1861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Le projet repose sur une architecture Data Lake moderne permettant de traiter et analyser les données efficacement.</a:t>
              </a:r>
            </a:p>
            <a:p>
              <a:pPr algn="l">
                <a:lnSpc>
                  <a:spcPts val="3780"/>
                </a:lnSpc>
              </a:pPr>
              <a:endParaRPr lang="en-US" sz="27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47625"/>
              <a:ext cx="16823660" cy="1171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-US" sz="6000" b="1" spc="-60">
                  <a:solidFill>
                    <a:srgbClr val="0B1320"/>
                  </a:solidFill>
                  <a:latin typeface="Heebo Heavy"/>
                  <a:ea typeface="Heebo Heavy"/>
                  <a:cs typeface="Heebo Heavy"/>
                  <a:sym typeface="Heebo Heavy"/>
                </a:rPr>
                <a:t>ARCHITECTURE DATA PIPELINE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684555" y="-2287994"/>
            <a:ext cx="4549931" cy="5606444"/>
            <a:chOff x="0" y="0"/>
            <a:chExt cx="6066575" cy="7475259"/>
          </a:xfrm>
        </p:grpSpPr>
        <p:grpSp>
          <p:nvGrpSpPr>
            <p:cNvPr id="49" name="Group 49"/>
            <p:cNvGrpSpPr/>
            <p:nvPr/>
          </p:nvGrpSpPr>
          <p:grpSpPr>
            <a:xfrm rot="-2700000">
              <a:off x="-65870" y="3707630"/>
              <a:ext cx="5553127" cy="2113871"/>
              <a:chOff x="0" y="0"/>
              <a:chExt cx="882773" cy="33603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C0A9BC"/>
                </a:solidFill>
                <a:prstDash val="dash"/>
                <a:miter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-57150"/>
                <a:ext cx="882773" cy="393189"/>
              </a:xfrm>
              <a:prstGeom prst="rect">
                <a:avLst/>
              </a:prstGeom>
            </p:spPr>
            <p:txBody>
              <a:bodyPr lIns="98288" tIns="98288" rIns="98288" bIns="98288" rtlCol="0" anchor="ctr"/>
              <a:lstStyle/>
              <a:p>
                <a:pPr algn="ctr">
                  <a:lnSpc>
                    <a:spcPts val="4063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-2700000">
              <a:off x="579318" y="1653758"/>
              <a:ext cx="5553127" cy="2113871"/>
              <a:chOff x="0" y="0"/>
              <a:chExt cx="882773" cy="33603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B13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57150"/>
                <a:ext cx="882773" cy="393189"/>
              </a:xfrm>
              <a:prstGeom prst="rect">
                <a:avLst/>
              </a:prstGeom>
            </p:spPr>
            <p:txBody>
              <a:bodyPr lIns="98288" tIns="98288" rIns="98288" bIns="98288" rtlCol="0" anchor="ctr"/>
              <a:lstStyle/>
              <a:p>
                <a:pPr algn="ctr">
                  <a:lnSpc>
                    <a:spcPts val="4063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08805" y="8064069"/>
            <a:ext cx="6110622" cy="7529534"/>
            <a:chOff x="0" y="0"/>
            <a:chExt cx="8147496" cy="10039379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778033" y="2221020"/>
              <a:ext cx="7457928" cy="2838959"/>
              <a:chOff x="0" y="0"/>
              <a:chExt cx="882773" cy="33603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FDFFF8"/>
                </a:solidFill>
                <a:prstDash val="sysDot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882773" cy="412239"/>
              </a:xfrm>
              <a:prstGeom prst="rect">
                <a:avLst/>
              </a:prstGeom>
            </p:spPr>
            <p:txBody>
              <a:bodyPr lIns="139079" tIns="139079" rIns="139079" bIns="139079" rtlCol="0" anchor="ctr"/>
              <a:lstStyle/>
              <a:p>
                <a:pPr algn="ctr">
                  <a:lnSpc>
                    <a:spcPts val="574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2700000">
              <a:off x="-88465" y="4979400"/>
              <a:ext cx="7457928" cy="2838959"/>
              <a:chOff x="0" y="0"/>
              <a:chExt cx="88277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882773" cy="412239"/>
              </a:xfrm>
              <a:prstGeom prst="rect">
                <a:avLst/>
              </a:prstGeom>
            </p:spPr>
            <p:txBody>
              <a:bodyPr lIns="139079" tIns="139079" rIns="139079" bIns="139079" rtlCol="0" anchor="ctr"/>
              <a:lstStyle/>
              <a:p>
                <a:pPr algn="ctr">
                  <a:lnSpc>
                    <a:spcPts val="574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5139479" y="-2061052"/>
            <a:ext cx="4971840" cy="6126322"/>
            <a:chOff x="0" y="0"/>
            <a:chExt cx="6629120" cy="8168430"/>
          </a:xfrm>
        </p:grpSpPr>
        <p:grpSp>
          <p:nvGrpSpPr>
            <p:cNvPr id="10" name="Group 10"/>
            <p:cNvGrpSpPr/>
            <p:nvPr/>
          </p:nvGrpSpPr>
          <p:grpSpPr>
            <a:xfrm rot="-2700000">
              <a:off x="633038" y="1807108"/>
              <a:ext cx="6068061" cy="2309888"/>
              <a:chOff x="0" y="0"/>
              <a:chExt cx="882773" cy="3360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FDFFF8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2700000">
              <a:off x="-71978" y="4051434"/>
              <a:ext cx="6068061" cy="2309888"/>
              <a:chOff x="0" y="0"/>
              <a:chExt cx="882773" cy="3360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657541" y="3122538"/>
            <a:ext cx="5510553" cy="4085157"/>
            <a:chOff x="0" y="0"/>
            <a:chExt cx="7347404" cy="5446876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053951" cy="5446876"/>
              <a:chOff x="0" y="0"/>
              <a:chExt cx="2053500" cy="158565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53500" cy="1585659"/>
              </a:xfrm>
              <a:custGeom>
                <a:avLst/>
                <a:gdLst/>
                <a:ahLst/>
                <a:cxnLst/>
                <a:rect l="l" t="t" r="r" b="b"/>
                <a:pathLst>
                  <a:path w="2053500" h="1585659">
                    <a:moveTo>
                      <a:pt x="64388" y="0"/>
                    </a:moveTo>
                    <a:lnTo>
                      <a:pt x="1989112" y="0"/>
                    </a:lnTo>
                    <a:cubicBezTo>
                      <a:pt x="2024672" y="0"/>
                      <a:pt x="2053500" y="28828"/>
                      <a:pt x="2053500" y="64388"/>
                    </a:cubicBezTo>
                    <a:lnTo>
                      <a:pt x="2053500" y="1521271"/>
                    </a:lnTo>
                    <a:cubicBezTo>
                      <a:pt x="2053500" y="1556831"/>
                      <a:pt x="2024672" y="1585659"/>
                      <a:pt x="1989112" y="1585659"/>
                    </a:cubicBezTo>
                    <a:lnTo>
                      <a:pt x="64388" y="1585659"/>
                    </a:lnTo>
                    <a:cubicBezTo>
                      <a:pt x="28828" y="1585659"/>
                      <a:pt x="0" y="1556831"/>
                      <a:pt x="0" y="1521271"/>
                    </a:cubicBezTo>
                    <a:lnTo>
                      <a:pt x="0" y="64388"/>
                    </a:lnTo>
                    <a:cubicBezTo>
                      <a:pt x="0" y="28828"/>
                      <a:pt x="28828" y="0"/>
                      <a:pt x="64388" y="0"/>
                    </a:cubicBezTo>
                    <a:close/>
                  </a:path>
                </a:pathLst>
              </a:custGeom>
              <a:solidFill>
                <a:srgbClr val="FCFBFD"/>
              </a:solidFill>
              <a:ln w="2857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053500" cy="1623759"/>
              </a:xfrm>
              <a:prstGeom prst="rect">
                <a:avLst/>
              </a:prstGeom>
            </p:spPr>
            <p:txBody>
              <a:bodyPr lIns="42289" tIns="42289" rIns="42289" bIns="42289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586870" y="502443"/>
              <a:ext cx="524464" cy="433253"/>
            </a:xfrm>
            <a:custGeom>
              <a:avLst/>
              <a:gdLst/>
              <a:ahLst/>
              <a:cxnLst/>
              <a:rect l="l" t="t" r="r" b="b"/>
              <a:pathLst>
                <a:path w="524464" h="433253">
                  <a:moveTo>
                    <a:pt x="0" y="0"/>
                  </a:moveTo>
                  <a:lnTo>
                    <a:pt x="524463" y="0"/>
                  </a:lnTo>
                  <a:lnTo>
                    <a:pt x="524463" y="433253"/>
                  </a:lnTo>
                  <a:lnTo>
                    <a:pt x="0" y="43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514657" y="1379925"/>
              <a:ext cx="5743466" cy="180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  <a:spcBef>
                  <a:spcPct val="0"/>
                </a:spcBef>
              </a:pPr>
              <a:r>
                <a:rPr lang="en-US" sz="1959" b="1">
                  <a:solidFill>
                    <a:srgbClr val="365679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Scripts Python robustes utilisant des bibliothèques standards pour automatiser l’ingestion des données.</a:t>
              </a:r>
            </a:p>
            <a:p>
              <a:pPr algn="l">
                <a:lnSpc>
                  <a:spcPts val="2743"/>
                </a:lnSpc>
                <a:spcBef>
                  <a:spcPct val="0"/>
                </a:spcBef>
              </a:pPr>
              <a:endParaRPr lang="en-US" sz="1959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1132" y="3262847"/>
              <a:ext cx="6866272" cy="2038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7"/>
                </a:lnSpc>
              </a:pPr>
              <a:r>
                <a:rPr lang="en-US" sz="1799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Téléchargement automatique des fichiers</a:t>
              </a:r>
            </a:p>
            <a:p>
              <a:pPr algn="l">
                <a:lnSpc>
                  <a:spcPts val="3257"/>
                </a:lnSpc>
              </a:pPr>
              <a:r>
                <a:rPr lang="en-US" sz="1799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Gestion des fichiers compressés (ZIP)</a:t>
              </a:r>
            </a:p>
            <a:p>
              <a:pPr algn="l">
                <a:lnSpc>
                  <a:spcPts val="3257"/>
                </a:lnSpc>
              </a:pPr>
              <a:r>
                <a:rPr lang="en-US" sz="1799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Extraction multi-fichiers </a:t>
              </a:r>
            </a:p>
            <a:p>
              <a:pPr algn="l">
                <a:lnSpc>
                  <a:spcPts val="2519"/>
                </a:lnSpc>
              </a:pPr>
              <a:endParaRPr lang="en-US" sz="1799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14657" y="3907090"/>
              <a:ext cx="334444" cy="427032"/>
            </a:xfrm>
            <a:custGeom>
              <a:avLst/>
              <a:gdLst/>
              <a:ahLst/>
              <a:cxnLst/>
              <a:rect l="l" t="t" r="r" b="b"/>
              <a:pathLst>
                <a:path w="334444" h="427032">
                  <a:moveTo>
                    <a:pt x="0" y="0"/>
                  </a:moveTo>
                  <a:lnTo>
                    <a:pt x="334445" y="0"/>
                  </a:lnTo>
                  <a:lnTo>
                    <a:pt x="334445" y="427032"/>
                  </a:lnTo>
                  <a:lnTo>
                    <a:pt x="0" y="4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12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14657" y="4499222"/>
              <a:ext cx="344910" cy="427032"/>
            </a:xfrm>
            <a:custGeom>
              <a:avLst/>
              <a:gdLst/>
              <a:ahLst/>
              <a:cxnLst/>
              <a:rect l="l" t="t" r="r" b="b"/>
              <a:pathLst>
                <a:path w="344910" h="427032">
                  <a:moveTo>
                    <a:pt x="0" y="0"/>
                  </a:moveTo>
                  <a:lnTo>
                    <a:pt x="344911" y="0"/>
                  </a:lnTo>
                  <a:lnTo>
                    <a:pt x="344911" y="427032"/>
                  </a:lnTo>
                  <a:lnTo>
                    <a:pt x="0" y="4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481132" y="3315264"/>
              <a:ext cx="344910" cy="427032"/>
            </a:xfrm>
            <a:custGeom>
              <a:avLst/>
              <a:gdLst/>
              <a:ahLst/>
              <a:cxnLst/>
              <a:rect l="l" t="t" r="r" b="b"/>
              <a:pathLst>
                <a:path w="344910" h="427032">
                  <a:moveTo>
                    <a:pt x="0" y="0"/>
                  </a:moveTo>
                  <a:lnTo>
                    <a:pt x="344910" y="0"/>
                  </a:lnTo>
                  <a:lnTo>
                    <a:pt x="344910" y="427032"/>
                  </a:lnTo>
                  <a:lnTo>
                    <a:pt x="0" y="4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320326" y="485523"/>
              <a:ext cx="2984116" cy="428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  <a:spcBef>
                  <a:spcPct val="0"/>
                </a:spcBef>
              </a:pPr>
              <a:r>
                <a:rPr lang="en-US" sz="1959" b="1">
                  <a:solidFill>
                    <a:srgbClr val="066147"/>
                  </a:solidFill>
                  <a:latin typeface="Heebo Bold"/>
                  <a:ea typeface="Heebo Bold"/>
                  <a:cs typeface="Heebo Bold"/>
                  <a:sym typeface="Heebo Bold"/>
                </a:rPr>
                <a:t>AUTOMATISATION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98768" y="3122538"/>
            <a:ext cx="5649156" cy="4126486"/>
            <a:chOff x="0" y="0"/>
            <a:chExt cx="7532208" cy="550198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7053951" cy="5501981"/>
              <a:chOff x="0" y="0"/>
              <a:chExt cx="2053500" cy="16017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053500" cy="1601701"/>
              </a:xfrm>
              <a:custGeom>
                <a:avLst/>
                <a:gdLst/>
                <a:ahLst/>
                <a:cxnLst/>
                <a:rect l="l" t="t" r="r" b="b"/>
                <a:pathLst>
                  <a:path w="2053500" h="1601701">
                    <a:moveTo>
                      <a:pt x="64388" y="0"/>
                    </a:moveTo>
                    <a:lnTo>
                      <a:pt x="1989112" y="0"/>
                    </a:lnTo>
                    <a:cubicBezTo>
                      <a:pt x="2024672" y="0"/>
                      <a:pt x="2053500" y="28828"/>
                      <a:pt x="2053500" y="64388"/>
                    </a:cubicBezTo>
                    <a:lnTo>
                      <a:pt x="2053500" y="1537312"/>
                    </a:lnTo>
                    <a:cubicBezTo>
                      <a:pt x="2053500" y="1572873"/>
                      <a:pt x="2024672" y="1601701"/>
                      <a:pt x="1989112" y="1601701"/>
                    </a:cubicBezTo>
                    <a:lnTo>
                      <a:pt x="64388" y="1601701"/>
                    </a:lnTo>
                    <a:cubicBezTo>
                      <a:pt x="47312" y="1601701"/>
                      <a:pt x="30934" y="1594917"/>
                      <a:pt x="18859" y="1582842"/>
                    </a:cubicBezTo>
                    <a:cubicBezTo>
                      <a:pt x="6784" y="1570767"/>
                      <a:pt x="0" y="1554389"/>
                      <a:pt x="0" y="1537312"/>
                    </a:cubicBezTo>
                    <a:lnTo>
                      <a:pt x="0" y="64388"/>
                    </a:lnTo>
                    <a:cubicBezTo>
                      <a:pt x="0" y="28828"/>
                      <a:pt x="28828" y="0"/>
                      <a:pt x="64388" y="0"/>
                    </a:cubicBezTo>
                    <a:close/>
                  </a:path>
                </a:pathLst>
              </a:custGeom>
              <a:solidFill>
                <a:srgbClr val="FCFBFD"/>
              </a:solidFill>
              <a:ln w="2857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2053500" cy="1639801"/>
              </a:xfrm>
              <a:prstGeom prst="rect">
                <a:avLst/>
              </a:prstGeom>
            </p:spPr>
            <p:txBody>
              <a:bodyPr lIns="42289" tIns="42289" rIns="42289" bIns="42289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514657" y="1204292"/>
              <a:ext cx="5743466" cy="8862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  <a:spcBef>
                  <a:spcPct val="0"/>
                </a:spcBef>
              </a:pPr>
              <a:r>
                <a:rPr lang="en-US" sz="1959" b="1">
                  <a:solidFill>
                    <a:srgbClr val="365679"/>
                  </a:solidFill>
                  <a:latin typeface="Heebo Bold"/>
                  <a:ea typeface="Heebo Bold"/>
                  <a:cs typeface="Heebo Bold"/>
                  <a:sym typeface="Heebo Bold"/>
                </a:rPr>
                <a:t>Traitement de données BLS QCEW sur plusieurs années.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7402" y="3890597"/>
              <a:ext cx="6514805" cy="1611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1"/>
                </a:lnSpc>
              </a:pPr>
              <a:r>
                <a:rPr lang="en-US" sz="1799">
                  <a:solidFill>
                    <a:srgbClr val="066147"/>
                  </a:solidFill>
                  <a:latin typeface="Heebo"/>
                  <a:ea typeface="Heebo"/>
                  <a:cs typeface="Heebo"/>
                  <a:sym typeface="Heebo"/>
                </a:rPr>
                <a:t>Données conservées à l’état brut (sans transformation)</a:t>
              </a:r>
            </a:p>
            <a:p>
              <a:pPr algn="l">
                <a:lnSpc>
                  <a:spcPts val="2411"/>
                </a:lnSpc>
              </a:pPr>
              <a:r>
                <a:rPr lang="en-US" sz="1799">
                  <a:solidFill>
                    <a:srgbClr val="066147"/>
                  </a:solidFill>
                  <a:latin typeface="Heebo"/>
                  <a:ea typeface="Heebo"/>
                  <a:cs typeface="Heebo"/>
                  <a:sym typeface="Heebo"/>
                </a:rPr>
                <a:t>Garantie de l’intégrité des données source</a:t>
              </a:r>
            </a:p>
            <a:p>
              <a:pPr algn="l">
                <a:lnSpc>
                  <a:spcPts val="2411"/>
                </a:lnSpc>
              </a:pPr>
              <a:endParaRPr lang="en-US" sz="1799">
                <a:solidFill>
                  <a:srgbClr val="066147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0326" y="485523"/>
              <a:ext cx="4078404" cy="8862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</a:pPr>
              <a:r>
                <a:rPr lang="en-US" sz="1959" b="1">
                  <a:solidFill>
                    <a:srgbClr val="066147"/>
                  </a:solidFill>
                  <a:latin typeface="Heebo Bold"/>
                  <a:ea typeface="Heebo Bold"/>
                  <a:cs typeface="Heebo Bold"/>
                  <a:sym typeface="Heebo Bold"/>
                </a:rPr>
                <a:t>VOLUME DE DONNÉES</a:t>
              </a:r>
            </a:p>
            <a:p>
              <a:pPr algn="l">
                <a:lnSpc>
                  <a:spcPts val="2743"/>
                </a:lnSpc>
                <a:spcBef>
                  <a:spcPct val="0"/>
                </a:spcBef>
              </a:pPr>
              <a:endParaRPr lang="en-US" sz="1959" b="1">
                <a:solidFill>
                  <a:srgbClr val="066147"/>
                </a:solidFill>
                <a:latin typeface="Heebo Bold"/>
                <a:ea typeface="Heebo Bold"/>
                <a:cs typeface="Heebo Bold"/>
                <a:sym typeface="Heebo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334936" y="3122538"/>
            <a:ext cx="5290463" cy="4085157"/>
            <a:chOff x="0" y="0"/>
            <a:chExt cx="7053951" cy="5446876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7053951" cy="5446876"/>
              <a:chOff x="0" y="0"/>
              <a:chExt cx="2053500" cy="158565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053500" cy="1585659"/>
              </a:xfrm>
              <a:custGeom>
                <a:avLst/>
                <a:gdLst/>
                <a:ahLst/>
                <a:cxnLst/>
                <a:rect l="l" t="t" r="r" b="b"/>
                <a:pathLst>
                  <a:path w="2053500" h="1585659">
                    <a:moveTo>
                      <a:pt x="64388" y="0"/>
                    </a:moveTo>
                    <a:lnTo>
                      <a:pt x="1989112" y="0"/>
                    </a:lnTo>
                    <a:cubicBezTo>
                      <a:pt x="2024672" y="0"/>
                      <a:pt x="2053500" y="28828"/>
                      <a:pt x="2053500" y="64388"/>
                    </a:cubicBezTo>
                    <a:lnTo>
                      <a:pt x="2053500" y="1521271"/>
                    </a:lnTo>
                    <a:cubicBezTo>
                      <a:pt x="2053500" y="1556831"/>
                      <a:pt x="2024672" y="1585659"/>
                      <a:pt x="1989112" y="1585659"/>
                    </a:cubicBezTo>
                    <a:lnTo>
                      <a:pt x="64388" y="1585659"/>
                    </a:lnTo>
                    <a:cubicBezTo>
                      <a:pt x="28828" y="1585659"/>
                      <a:pt x="0" y="1556831"/>
                      <a:pt x="0" y="1521271"/>
                    </a:cubicBezTo>
                    <a:lnTo>
                      <a:pt x="0" y="64388"/>
                    </a:lnTo>
                    <a:cubicBezTo>
                      <a:pt x="0" y="28828"/>
                      <a:pt x="28828" y="0"/>
                      <a:pt x="64388" y="0"/>
                    </a:cubicBezTo>
                    <a:close/>
                  </a:path>
                </a:pathLst>
              </a:custGeom>
              <a:solidFill>
                <a:srgbClr val="FCFBFD"/>
              </a:solidFill>
              <a:ln w="28575" cap="rnd">
                <a:solidFill>
                  <a:srgbClr val="AFC1D0"/>
                </a:solidFill>
                <a:prstDash val="solid"/>
                <a:round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2053500" cy="1623759"/>
              </a:xfrm>
              <a:prstGeom prst="rect">
                <a:avLst/>
              </a:prstGeom>
            </p:spPr>
            <p:txBody>
              <a:bodyPr lIns="42289" tIns="42289" rIns="42289" bIns="42289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14657" y="1379925"/>
              <a:ext cx="6539294" cy="8862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  <a:spcBef>
                  <a:spcPct val="0"/>
                </a:spcBef>
              </a:pPr>
              <a:r>
                <a:rPr lang="en-US" sz="1959" b="1">
                  <a:solidFill>
                    <a:srgbClr val="365679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Utilisation des fonctionnalités Databricks pour stocker les données brutes.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0326" y="485523"/>
              <a:ext cx="4120492" cy="428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  <a:spcBef>
                  <a:spcPct val="0"/>
                </a:spcBef>
              </a:pPr>
              <a:r>
                <a:rPr lang="en-US" sz="1959" b="1">
                  <a:solidFill>
                    <a:srgbClr val="066147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STOCKAGE CLOUD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2340606" y="6938282"/>
            <a:ext cx="5435329" cy="6697436"/>
            <a:chOff x="0" y="0"/>
            <a:chExt cx="7247106" cy="8929915"/>
          </a:xfrm>
        </p:grpSpPr>
        <p:grpSp>
          <p:nvGrpSpPr>
            <p:cNvPr id="41" name="Group 41"/>
            <p:cNvGrpSpPr/>
            <p:nvPr/>
          </p:nvGrpSpPr>
          <p:grpSpPr>
            <a:xfrm rot="-2700000">
              <a:off x="692051" y="1975572"/>
              <a:ext cx="6633743" cy="2525222"/>
              <a:chOff x="0" y="0"/>
              <a:chExt cx="882773" cy="33603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FDFFF8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-2700000">
              <a:off x="-78688" y="4429120"/>
              <a:ext cx="6633743" cy="2525222"/>
              <a:chOff x="0" y="0"/>
              <a:chExt cx="882773" cy="336039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</p:grpSp>
      <p:sp>
        <p:nvSpPr>
          <p:cNvPr id="47" name="Freeform 47"/>
          <p:cNvSpPr/>
          <p:nvPr/>
        </p:nvSpPr>
        <p:spPr>
          <a:xfrm>
            <a:off x="12719143" y="3480981"/>
            <a:ext cx="440765" cy="389513"/>
          </a:xfrm>
          <a:custGeom>
            <a:avLst/>
            <a:gdLst/>
            <a:ahLst/>
            <a:cxnLst/>
            <a:rect l="l" t="t" r="r" b="b"/>
            <a:pathLst>
              <a:path w="440765" h="389513">
                <a:moveTo>
                  <a:pt x="0" y="0"/>
                </a:moveTo>
                <a:lnTo>
                  <a:pt x="440765" y="0"/>
                </a:lnTo>
                <a:lnTo>
                  <a:pt x="440765" y="389513"/>
                </a:lnTo>
                <a:lnTo>
                  <a:pt x="0" y="389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6966414" y="3480981"/>
            <a:ext cx="331186" cy="349620"/>
          </a:xfrm>
          <a:custGeom>
            <a:avLst/>
            <a:gdLst/>
            <a:ahLst/>
            <a:cxnLst/>
            <a:rect l="l" t="t" r="r" b="b"/>
            <a:pathLst>
              <a:path w="331186" h="349620">
                <a:moveTo>
                  <a:pt x="0" y="0"/>
                </a:moveTo>
                <a:lnTo>
                  <a:pt x="331186" y="0"/>
                </a:lnTo>
                <a:lnTo>
                  <a:pt x="331186" y="349620"/>
                </a:lnTo>
                <a:lnTo>
                  <a:pt x="0" y="349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9" name="Group 49"/>
          <p:cNvGrpSpPr/>
          <p:nvPr/>
        </p:nvGrpSpPr>
        <p:grpSpPr>
          <a:xfrm>
            <a:off x="6966414" y="4914878"/>
            <a:ext cx="2034952" cy="896660"/>
            <a:chOff x="0" y="0"/>
            <a:chExt cx="657538" cy="28973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7538" cy="289731"/>
            </a:xfrm>
            <a:custGeom>
              <a:avLst/>
              <a:gdLst/>
              <a:ahLst/>
              <a:cxnLst/>
              <a:rect l="l" t="t" r="r" b="b"/>
              <a:pathLst>
                <a:path w="657538" h="289731">
                  <a:moveTo>
                    <a:pt x="106525" y="0"/>
                  </a:moveTo>
                  <a:lnTo>
                    <a:pt x="551013" y="0"/>
                  </a:lnTo>
                  <a:cubicBezTo>
                    <a:pt x="579265" y="0"/>
                    <a:pt x="606360" y="11223"/>
                    <a:pt x="626337" y="31201"/>
                  </a:cubicBezTo>
                  <a:cubicBezTo>
                    <a:pt x="646315" y="51178"/>
                    <a:pt x="657538" y="78273"/>
                    <a:pt x="657538" y="106525"/>
                  </a:cubicBezTo>
                  <a:lnTo>
                    <a:pt x="657538" y="183205"/>
                  </a:lnTo>
                  <a:cubicBezTo>
                    <a:pt x="657538" y="211458"/>
                    <a:pt x="646315" y="238553"/>
                    <a:pt x="626337" y="258530"/>
                  </a:cubicBezTo>
                  <a:cubicBezTo>
                    <a:pt x="606360" y="278507"/>
                    <a:pt x="579265" y="289731"/>
                    <a:pt x="551013" y="289731"/>
                  </a:cubicBezTo>
                  <a:lnTo>
                    <a:pt x="106525" y="289731"/>
                  </a:lnTo>
                  <a:cubicBezTo>
                    <a:pt x="78273" y="289731"/>
                    <a:pt x="51178" y="278507"/>
                    <a:pt x="31201" y="258530"/>
                  </a:cubicBezTo>
                  <a:cubicBezTo>
                    <a:pt x="11223" y="238553"/>
                    <a:pt x="0" y="211458"/>
                    <a:pt x="0" y="183205"/>
                  </a:cubicBezTo>
                  <a:lnTo>
                    <a:pt x="0" y="106525"/>
                  </a:lnTo>
                  <a:cubicBezTo>
                    <a:pt x="0" y="78273"/>
                    <a:pt x="11223" y="51178"/>
                    <a:pt x="31201" y="31201"/>
                  </a:cubicBezTo>
                  <a:cubicBezTo>
                    <a:pt x="51178" y="11223"/>
                    <a:pt x="78273" y="0"/>
                    <a:pt x="106525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657538" cy="327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0" y="4914878"/>
            <a:ext cx="1890296" cy="890846"/>
            <a:chOff x="0" y="0"/>
            <a:chExt cx="610797" cy="28785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10797" cy="287852"/>
            </a:xfrm>
            <a:custGeom>
              <a:avLst/>
              <a:gdLst/>
              <a:ahLst/>
              <a:cxnLst/>
              <a:rect l="l" t="t" r="r" b="b"/>
              <a:pathLst>
                <a:path w="610797" h="287852">
                  <a:moveTo>
                    <a:pt x="114677" y="0"/>
                  </a:moveTo>
                  <a:lnTo>
                    <a:pt x="496119" y="0"/>
                  </a:lnTo>
                  <a:cubicBezTo>
                    <a:pt x="559454" y="0"/>
                    <a:pt x="610797" y="51343"/>
                    <a:pt x="610797" y="114677"/>
                  </a:cubicBezTo>
                  <a:lnTo>
                    <a:pt x="610797" y="173175"/>
                  </a:lnTo>
                  <a:cubicBezTo>
                    <a:pt x="610797" y="236509"/>
                    <a:pt x="559454" y="287852"/>
                    <a:pt x="496119" y="287852"/>
                  </a:cubicBezTo>
                  <a:lnTo>
                    <a:pt x="114677" y="287852"/>
                  </a:lnTo>
                  <a:cubicBezTo>
                    <a:pt x="51343" y="287852"/>
                    <a:pt x="0" y="236509"/>
                    <a:pt x="0" y="173175"/>
                  </a:cubicBezTo>
                  <a:lnTo>
                    <a:pt x="0" y="114677"/>
                  </a:lnTo>
                  <a:cubicBezTo>
                    <a:pt x="0" y="51343"/>
                    <a:pt x="51343" y="0"/>
                    <a:pt x="114677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610797" cy="325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719143" y="5039226"/>
            <a:ext cx="4254052" cy="890846"/>
            <a:chOff x="0" y="0"/>
            <a:chExt cx="1374578" cy="28785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374578" cy="287852"/>
            </a:xfrm>
            <a:custGeom>
              <a:avLst/>
              <a:gdLst/>
              <a:ahLst/>
              <a:cxnLst/>
              <a:rect l="l" t="t" r="r" b="b"/>
              <a:pathLst>
                <a:path w="1374578" h="287852">
                  <a:moveTo>
                    <a:pt x="50957" y="0"/>
                  </a:moveTo>
                  <a:lnTo>
                    <a:pt x="1323621" y="0"/>
                  </a:lnTo>
                  <a:cubicBezTo>
                    <a:pt x="1337136" y="0"/>
                    <a:pt x="1350097" y="5369"/>
                    <a:pt x="1359653" y="14925"/>
                  </a:cubicBezTo>
                  <a:cubicBezTo>
                    <a:pt x="1369210" y="24481"/>
                    <a:pt x="1374578" y="37442"/>
                    <a:pt x="1374578" y="50957"/>
                  </a:cubicBezTo>
                  <a:lnTo>
                    <a:pt x="1374578" y="236895"/>
                  </a:lnTo>
                  <a:cubicBezTo>
                    <a:pt x="1374578" y="250410"/>
                    <a:pt x="1369210" y="263371"/>
                    <a:pt x="1359653" y="272927"/>
                  </a:cubicBezTo>
                  <a:cubicBezTo>
                    <a:pt x="1350097" y="282483"/>
                    <a:pt x="1337136" y="287852"/>
                    <a:pt x="1323621" y="287852"/>
                  </a:cubicBezTo>
                  <a:lnTo>
                    <a:pt x="50957" y="287852"/>
                  </a:lnTo>
                  <a:cubicBezTo>
                    <a:pt x="37442" y="287852"/>
                    <a:pt x="24481" y="282483"/>
                    <a:pt x="14925" y="272927"/>
                  </a:cubicBezTo>
                  <a:cubicBezTo>
                    <a:pt x="5369" y="263371"/>
                    <a:pt x="0" y="250410"/>
                    <a:pt x="0" y="236895"/>
                  </a:cubicBezTo>
                  <a:lnTo>
                    <a:pt x="0" y="50957"/>
                  </a:lnTo>
                  <a:cubicBezTo>
                    <a:pt x="0" y="37442"/>
                    <a:pt x="5369" y="24481"/>
                    <a:pt x="14925" y="14925"/>
                  </a:cubicBezTo>
                  <a:cubicBezTo>
                    <a:pt x="24481" y="5369"/>
                    <a:pt x="37442" y="0"/>
                    <a:pt x="50957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374578" cy="325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719143" y="6055963"/>
            <a:ext cx="4254052" cy="890846"/>
            <a:chOff x="0" y="0"/>
            <a:chExt cx="1374578" cy="28785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374578" cy="287852"/>
            </a:xfrm>
            <a:custGeom>
              <a:avLst/>
              <a:gdLst/>
              <a:ahLst/>
              <a:cxnLst/>
              <a:rect l="l" t="t" r="r" b="b"/>
              <a:pathLst>
                <a:path w="1374578" h="287852">
                  <a:moveTo>
                    <a:pt x="50957" y="0"/>
                  </a:moveTo>
                  <a:lnTo>
                    <a:pt x="1323621" y="0"/>
                  </a:lnTo>
                  <a:cubicBezTo>
                    <a:pt x="1337136" y="0"/>
                    <a:pt x="1350097" y="5369"/>
                    <a:pt x="1359653" y="14925"/>
                  </a:cubicBezTo>
                  <a:cubicBezTo>
                    <a:pt x="1369210" y="24481"/>
                    <a:pt x="1374578" y="37442"/>
                    <a:pt x="1374578" y="50957"/>
                  </a:cubicBezTo>
                  <a:lnTo>
                    <a:pt x="1374578" y="236895"/>
                  </a:lnTo>
                  <a:cubicBezTo>
                    <a:pt x="1374578" y="250410"/>
                    <a:pt x="1369210" y="263371"/>
                    <a:pt x="1359653" y="272927"/>
                  </a:cubicBezTo>
                  <a:cubicBezTo>
                    <a:pt x="1350097" y="282483"/>
                    <a:pt x="1337136" y="287852"/>
                    <a:pt x="1323621" y="287852"/>
                  </a:cubicBezTo>
                  <a:lnTo>
                    <a:pt x="50957" y="287852"/>
                  </a:lnTo>
                  <a:cubicBezTo>
                    <a:pt x="37442" y="287852"/>
                    <a:pt x="24481" y="282483"/>
                    <a:pt x="14925" y="272927"/>
                  </a:cubicBezTo>
                  <a:cubicBezTo>
                    <a:pt x="5369" y="263371"/>
                    <a:pt x="0" y="250410"/>
                    <a:pt x="0" y="236895"/>
                  </a:cubicBezTo>
                  <a:lnTo>
                    <a:pt x="0" y="50957"/>
                  </a:lnTo>
                  <a:cubicBezTo>
                    <a:pt x="0" y="37442"/>
                    <a:pt x="5369" y="24481"/>
                    <a:pt x="14925" y="14925"/>
                  </a:cubicBezTo>
                  <a:cubicBezTo>
                    <a:pt x="24481" y="5369"/>
                    <a:pt x="37442" y="0"/>
                    <a:pt x="50957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374578" cy="325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1" name="Freeform 61"/>
          <p:cNvSpPr/>
          <p:nvPr/>
        </p:nvSpPr>
        <p:spPr>
          <a:xfrm>
            <a:off x="12939526" y="5308117"/>
            <a:ext cx="315245" cy="292728"/>
          </a:xfrm>
          <a:custGeom>
            <a:avLst/>
            <a:gdLst/>
            <a:ahLst/>
            <a:cxnLst/>
            <a:rect l="l" t="t" r="r" b="b"/>
            <a:pathLst>
              <a:path w="315245" h="292728">
                <a:moveTo>
                  <a:pt x="0" y="0"/>
                </a:moveTo>
                <a:lnTo>
                  <a:pt x="315245" y="0"/>
                </a:lnTo>
                <a:lnTo>
                  <a:pt x="315245" y="292728"/>
                </a:lnTo>
                <a:lnTo>
                  <a:pt x="0" y="2927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2902191" y="6272047"/>
            <a:ext cx="352580" cy="352580"/>
          </a:xfrm>
          <a:custGeom>
            <a:avLst/>
            <a:gdLst/>
            <a:ahLst/>
            <a:cxnLst/>
            <a:rect l="l" t="t" r="r" b="b"/>
            <a:pathLst>
              <a:path w="352580" h="352580">
                <a:moveTo>
                  <a:pt x="0" y="0"/>
                </a:moveTo>
                <a:lnTo>
                  <a:pt x="352580" y="0"/>
                </a:lnTo>
                <a:lnTo>
                  <a:pt x="352580" y="352580"/>
                </a:lnTo>
                <a:lnTo>
                  <a:pt x="0" y="3525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3" name="TextBox 63"/>
          <p:cNvSpPr txBox="1"/>
          <p:nvPr/>
        </p:nvSpPr>
        <p:spPr>
          <a:xfrm>
            <a:off x="657541" y="850344"/>
            <a:ext cx="12617745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 spc="-60">
                <a:solidFill>
                  <a:srgbClr val="0B1320"/>
                </a:solidFill>
                <a:latin typeface="Heebo Heavy"/>
                <a:ea typeface="Heebo Heavy"/>
                <a:cs typeface="Heebo Heavy"/>
                <a:sym typeface="Heebo Heavy"/>
              </a:rPr>
              <a:t>INGESTION &amp; TRAITEMENT BRONZE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283602" y="4972551"/>
            <a:ext cx="1400576" cy="52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66147"/>
                </a:solidFill>
                <a:latin typeface="Heebo Bold"/>
                <a:ea typeface="Heebo Bold"/>
                <a:cs typeface="Heebo Bold"/>
                <a:sym typeface="Heebo Bold"/>
              </a:rPr>
              <a:t>36M +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132007" y="5479837"/>
            <a:ext cx="1727056" cy="22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5"/>
              </a:lnSpc>
              <a:spcBef>
                <a:spcPct val="0"/>
              </a:spcBef>
            </a:pPr>
            <a:r>
              <a:rPr lang="en-US" sz="1346">
                <a:solidFill>
                  <a:srgbClr val="AFC1D0"/>
                </a:solidFill>
                <a:latin typeface="Heebo"/>
                <a:ea typeface="Heebo"/>
                <a:cs typeface="Heebo"/>
                <a:sym typeface="Heebo"/>
              </a:rPr>
              <a:t>LIGNES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388860" y="4972551"/>
            <a:ext cx="1400576" cy="52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66147"/>
                </a:solidFill>
                <a:latin typeface="Heebo Bold"/>
                <a:ea typeface="Heebo Bold"/>
                <a:cs typeface="Heebo Bold"/>
                <a:sym typeface="Heebo Bold"/>
              </a:rPr>
              <a:t>10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225620" y="5479837"/>
            <a:ext cx="1727056" cy="22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5"/>
              </a:lnSpc>
              <a:spcBef>
                <a:spcPct val="0"/>
              </a:spcBef>
            </a:pPr>
            <a:r>
              <a:rPr lang="en-US" sz="1346">
                <a:solidFill>
                  <a:srgbClr val="AFC1D0"/>
                </a:solidFill>
                <a:latin typeface="Heebo"/>
                <a:ea typeface="Heebo"/>
                <a:cs typeface="Heebo"/>
                <a:sym typeface="Heebo"/>
              </a:rPr>
              <a:t>ANNEÉS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483371" y="5138156"/>
            <a:ext cx="3489824" cy="34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66147"/>
                </a:solidFill>
                <a:latin typeface="Heebo Bold"/>
                <a:ea typeface="Heebo Bold"/>
                <a:cs typeface="Heebo Bold"/>
                <a:sym typeface="Heebo Bold"/>
              </a:rPr>
              <a:t>Databricks Volumes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394567" y="6152159"/>
            <a:ext cx="3489824" cy="34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66147"/>
                </a:solidFill>
                <a:latin typeface="Heebo Bold"/>
                <a:ea typeface="Heebo Bold"/>
                <a:cs typeface="Heebo Bold"/>
                <a:sym typeface="Heebo Bold"/>
              </a:rPr>
              <a:t>Partitionnement par Année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483371" y="5470312"/>
            <a:ext cx="2590204" cy="256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  <a:spcBef>
                <a:spcPct val="0"/>
              </a:spcBef>
            </a:pPr>
            <a:r>
              <a:rPr lang="en-US" sz="1546" b="1">
                <a:solidFill>
                  <a:srgbClr val="A6A6A6"/>
                </a:solidFill>
                <a:latin typeface="Heebo Bold"/>
                <a:ea typeface="Heebo Bold"/>
                <a:cs typeface="Heebo Bold"/>
                <a:sym typeface="Heebo Bold"/>
              </a:rPr>
              <a:t>gestion du stockage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394567" y="6482336"/>
            <a:ext cx="3489824" cy="256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  <a:spcBef>
                <a:spcPct val="0"/>
              </a:spcBef>
            </a:pPr>
            <a:r>
              <a:rPr lang="en-US" sz="1546" b="1">
                <a:solidFill>
                  <a:srgbClr val="A6A6A6"/>
                </a:solidFill>
                <a:latin typeface="Heebo Bold"/>
                <a:ea typeface="Heebo Bold"/>
                <a:cs typeface="Heebo Bold"/>
                <a:sym typeface="Heebo Bold"/>
              </a:rPr>
              <a:t>optimisation des performances</a:t>
            </a:r>
          </a:p>
        </p:txBody>
      </p:sp>
      <p:sp>
        <p:nvSpPr>
          <p:cNvPr id="72" name="Freeform 72"/>
          <p:cNvSpPr/>
          <p:nvPr/>
        </p:nvSpPr>
        <p:spPr>
          <a:xfrm>
            <a:off x="6873324" y="6082849"/>
            <a:ext cx="258683" cy="320274"/>
          </a:xfrm>
          <a:custGeom>
            <a:avLst/>
            <a:gdLst/>
            <a:ahLst/>
            <a:cxnLst/>
            <a:rect l="l" t="t" r="r" b="b"/>
            <a:pathLst>
              <a:path w="258683" h="320274">
                <a:moveTo>
                  <a:pt x="0" y="0"/>
                </a:moveTo>
                <a:lnTo>
                  <a:pt x="258683" y="0"/>
                </a:lnTo>
                <a:lnTo>
                  <a:pt x="258683" y="320274"/>
                </a:lnTo>
                <a:lnTo>
                  <a:pt x="0" y="320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6873324" y="6674435"/>
            <a:ext cx="258683" cy="320274"/>
          </a:xfrm>
          <a:custGeom>
            <a:avLst/>
            <a:gdLst/>
            <a:ahLst/>
            <a:cxnLst/>
            <a:rect l="l" t="t" r="r" b="b"/>
            <a:pathLst>
              <a:path w="258683" h="320274">
                <a:moveTo>
                  <a:pt x="0" y="0"/>
                </a:moveTo>
                <a:lnTo>
                  <a:pt x="258683" y="0"/>
                </a:lnTo>
                <a:lnTo>
                  <a:pt x="258683" y="320274"/>
                </a:lnTo>
                <a:lnTo>
                  <a:pt x="0" y="320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844235" y="1644822"/>
            <a:ext cx="0" cy="7477111"/>
          </a:xfrm>
          <a:prstGeom prst="line">
            <a:avLst/>
          </a:prstGeom>
          <a:ln w="19050" cap="flat">
            <a:solidFill>
              <a:srgbClr val="0B132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55331" y="649292"/>
            <a:ext cx="15618235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00"/>
              </a:lnSpc>
            </a:pPr>
            <a:r>
              <a:rPr lang="en-US" sz="6000" b="1" spc="-60">
                <a:solidFill>
                  <a:srgbClr val="0B1320"/>
                </a:solidFill>
                <a:latin typeface="Heebo Heavy"/>
                <a:ea typeface="Heebo Heavy"/>
                <a:cs typeface="Heebo Heavy"/>
                <a:sym typeface="Heebo Heavy"/>
              </a:rPr>
              <a:t>NETTOYAGE &amp; TRANSFORMATION (SILVER)</a:t>
            </a:r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982442" y="7654650"/>
            <a:ext cx="4551046" cy="1732416"/>
            <a:chOff x="0" y="0"/>
            <a:chExt cx="882773" cy="3360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D4F59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</p:spPr>
          <p:txBody>
            <a:bodyPr lIns="70135" tIns="70135" rIns="70135" bIns="70135" rtlCol="0" anchor="ctr"/>
            <a:lstStyle/>
            <a:p>
              <a:pPr algn="ctr">
                <a:lnSpc>
                  <a:spcPts val="28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-1511204" y="9337895"/>
            <a:ext cx="4551046" cy="1732416"/>
            <a:chOff x="0" y="0"/>
            <a:chExt cx="882773" cy="33603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B1320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</p:spPr>
          <p:txBody>
            <a:bodyPr lIns="70135" tIns="70135" rIns="70135" bIns="70135" rtlCol="0" anchor="ctr"/>
            <a:lstStyle/>
            <a:p>
              <a:pPr algn="ctr">
                <a:lnSpc>
                  <a:spcPts val="28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15461309" y="587988"/>
            <a:ext cx="4000546" cy="1522861"/>
            <a:chOff x="0" y="0"/>
            <a:chExt cx="882773" cy="3360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36AD61"/>
              </a:solidFill>
              <a:prstDash val="dash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98288" tIns="98288" rIns="98288" bIns="98288" rtlCol="0" anchor="ctr"/>
            <a:lstStyle/>
            <a:p>
              <a:pPr algn="ctr">
                <a:lnSpc>
                  <a:spcPts val="406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15926111" y="-891649"/>
            <a:ext cx="4000546" cy="1522861"/>
            <a:chOff x="0" y="0"/>
            <a:chExt cx="882773" cy="3360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B1320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98288" tIns="98288" rIns="98288" bIns="98288" rtlCol="0" anchor="ctr"/>
            <a:lstStyle/>
            <a:p>
              <a:pPr algn="ctr">
                <a:lnSpc>
                  <a:spcPts val="406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28452" y="3007438"/>
            <a:ext cx="269421" cy="26942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28452" y="5090476"/>
            <a:ext cx="269421" cy="26942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28452" y="7291604"/>
            <a:ext cx="269421" cy="26942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09524" y="9121933"/>
            <a:ext cx="269421" cy="26942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355331" y="6564531"/>
            <a:ext cx="5657644" cy="1501861"/>
          </a:xfrm>
          <a:custGeom>
            <a:avLst/>
            <a:gdLst/>
            <a:ahLst/>
            <a:cxnLst/>
            <a:rect l="l" t="t" r="r" b="b"/>
            <a:pathLst>
              <a:path w="5657644" h="1501861">
                <a:moveTo>
                  <a:pt x="0" y="0"/>
                </a:moveTo>
                <a:lnTo>
                  <a:pt x="5657643" y="0"/>
                </a:lnTo>
                <a:lnTo>
                  <a:pt x="5657643" y="1501861"/>
                </a:lnTo>
                <a:lnTo>
                  <a:pt x="0" y="1501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74" b="-6474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5355952" y="1818860"/>
            <a:ext cx="4762900" cy="2915997"/>
            <a:chOff x="0" y="0"/>
            <a:chExt cx="6350533" cy="3887997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28575"/>
              <a:ext cx="6350533" cy="1539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679"/>
                </a:lnSpc>
              </a:pPr>
              <a:r>
                <a:rPr lang="en-US" sz="3599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NETTOYAGE DES DONNÉES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7060" y="1890923"/>
              <a:ext cx="5293474" cy="1997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4" lvl="1" indent="-215902" algn="just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Suppression des valeurs nulles</a:t>
              </a:r>
            </a:p>
            <a:p>
              <a:pPr marL="431804" lvl="1" indent="-215902" algn="just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Filtrage des données utiles</a:t>
              </a:r>
            </a:p>
            <a:p>
              <a:pPr marL="431804" lvl="1" indent="-215902" algn="just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Gestion des valeurs négatives</a:t>
              </a:r>
            </a:p>
            <a:p>
              <a:pPr algn="just">
                <a:lnSpc>
                  <a:spcPts val="3000"/>
                </a:lnSpc>
              </a:pPr>
              <a:endParaRPr lang="en-US" sz="20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55331" y="2329309"/>
            <a:ext cx="5050290" cy="3930423"/>
            <a:chOff x="0" y="0"/>
            <a:chExt cx="6733721" cy="524056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733721" cy="5240564"/>
              <a:chOff x="0" y="0"/>
              <a:chExt cx="1960277" cy="152559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960276" cy="1525598"/>
              </a:xfrm>
              <a:custGeom>
                <a:avLst/>
                <a:gdLst/>
                <a:ahLst/>
                <a:cxnLst/>
                <a:rect l="l" t="t" r="r" b="b"/>
                <a:pathLst>
                  <a:path w="1960276" h="1525598">
                    <a:moveTo>
                      <a:pt x="67450" y="0"/>
                    </a:moveTo>
                    <a:lnTo>
                      <a:pt x="1892826" y="0"/>
                    </a:lnTo>
                    <a:cubicBezTo>
                      <a:pt x="1930078" y="0"/>
                      <a:pt x="1960276" y="30199"/>
                      <a:pt x="1960276" y="67450"/>
                    </a:cubicBezTo>
                    <a:lnTo>
                      <a:pt x="1960276" y="1458148"/>
                    </a:lnTo>
                    <a:cubicBezTo>
                      <a:pt x="1960276" y="1495400"/>
                      <a:pt x="1930078" y="1525598"/>
                      <a:pt x="1892826" y="1525598"/>
                    </a:cubicBezTo>
                    <a:lnTo>
                      <a:pt x="67450" y="1525598"/>
                    </a:lnTo>
                    <a:cubicBezTo>
                      <a:pt x="30199" y="1525598"/>
                      <a:pt x="0" y="1495400"/>
                      <a:pt x="0" y="1458148"/>
                    </a:cubicBezTo>
                    <a:lnTo>
                      <a:pt x="0" y="67450"/>
                    </a:lnTo>
                    <a:cubicBezTo>
                      <a:pt x="0" y="30199"/>
                      <a:pt x="30199" y="0"/>
                      <a:pt x="67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960277" cy="1563698"/>
              </a:xfrm>
              <a:prstGeom prst="rect">
                <a:avLst/>
              </a:prstGeom>
            </p:spPr>
            <p:txBody>
              <a:bodyPr lIns="42289" tIns="42289" rIns="42289" bIns="42289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515566" y="502443"/>
              <a:ext cx="460743" cy="433253"/>
            </a:xfrm>
            <a:custGeom>
              <a:avLst/>
              <a:gdLst/>
              <a:ahLst/>
              <a:cxnLst/>
              <a:rect l="l" t="t" r="r" b="b"/>
              <a:pathLst>
                <a:path w="460743" h="433253">
                  <a:moveTo>
                    <a:pt x="0" y="0"/>
                  </a:moveTo>
                  <a:lnTo>
                    <a:pt x="460743" y="0"/>
                  </a:lnTo>
                  <a:lnTo>
                    <a:pt x="460743" y="433253"/>
                  </a:lnTo>
                  <a:lnTo>
                    <a:pt x="0" y="43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915" r="-6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2128" y="1379925"/>
              <a:ext cx="5045650" cy="180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  <a:spcBef>
                  <a:spcPct val="0"/>
                </a:spcBef>
              </a:pPr>
              <a:r>
                <a:rPr lang="en-US" sz="1959" b="1">
                  <a:solidFill>
                    <a:srgbClr val="365679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Le traitement de 36M+ de lignes nécessite une scalabilité horizontale native.</a:t>
              </a:r>
            </a:p>
            <a:p>
              <a:pPr algn="l">
                <a:lnSpc>
                  <a:spcPts val="2743"/>
                </a:lnSpc>
                <a:spcBef>
                  <a:spcPct val="0"/>
                </a:spcBef>
              </a:pPr>
              <a:endParaRPr lang="en-US" sz="1959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2676" y="3262847"/>
              <a:ext cx="6311045" cy="1557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7"/>
                </a:lnSpc>
              </a:pPr>
              <a:r>
                <a:rPr lang="en-US" sz="1799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Traitement distribué (cluster Databricks)</a:t>
              </a:r>
            </a:p>
            <a:p>
              <a:pPr algn="l">
                <a:lnSpc>
                  <a:spcPts val="3257"/>
                </a:lnSpc>
              </a:pPr>
              <a:r>
                <a:rPr lang="en-US" sz="1799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Optimisation des jointures complexes</a:t>
              </a:r>
            </a:p>
            <a:p>
              <a:pPr algn="l">
                <a:lnSpc>
                  <a:spcPts val="3257"/>
                </a:lnSpc>
              </a:pPr>
              <a:r>
                <a:rPr lang="en-US" sz="1799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Gestion efficace des données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52128" y="3907090"/>
              <a:ext cx="293810" cy="427032"/>
            </a:xfrm>
            <a:custGeom>
              <a:avLst/>
              <a:gdLst/>
              <a:ahLst/>
              <a:cxnLst/>
              <a:rect l="l" t="t" r="r" b="b"/>
              <a:pathLst>
                <a:path w="293810" h="427032">
                  <a:moveTo>
                    <a:pt x="0" y="0"/>
                  </a:moveTo>
                  <a:lnTo>
                    <a:pt x="293810" y="0"/>
                  </a:lnTo>
                  <a:lnTo>
                    <a:pt x="293810" y="427032"/>
                  </a:lnTo>
                  <a:lnTo>
                    <a:pt x="0" y="4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15" r="-10477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0" name="Freeform 40"/>
            <p:cNvSpPr/>
            <p:nvPr/>
          </p:nvSpPr>
          <p:spPr>
            <a:xfrm>
              <a:off x="452128" y="4499222"/>
              <a:ext cx="303005" cy="427032"/>
            </a:xfrm>
            <a:custGeom>
              <a:avLst/>
              <a:gdLst/>
              <a:ahLst/>
              <a:cxnLst/>
              <a:rect l="l" t="t" r="r" b="b"/>
              <a:pathLst>
                <a:path w="303005" h="427032">
                  <a:moveTo>
                    <a:pt x="0" y="0"/>
                  </a:moveTo>
                  <a:lnTo>
                    <a:pt x="303005" y="0"/>
                  </a:lnTo>
                  <a:lnTo>
                    <a:pt x="303005" y="427032"/>
                  </a:lnTo>
                  <a:lnTo>
                    <a:pt x="0" y="4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15" r="-6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1" name="Freeform 41"/>
            <p:cNvSpPr/>
            <p:nvPr/>
          </p:nvSpPr>
          <p:spPr>
            <a:xfrm>
              <a:off x="422676" y="3315264"/>
              <a:ext cx="303005" cy="427032"/>
            </a:xfrm>
            <a:custGeom>
              <a:avLst/>
              <a:gdLst/>
              <a:ahLst/>
              <a:cxnLst/>
              <a:rect l="l" t="t" r="r" b="b"/>
              <a:pathLst>
                <a:path w="303005" h="427032">
                  <a:moveTo>
                    <a:pt x="0" y="0"/>
                  </a:moveTo>
                  <a:lnTo>
                    <a:pt x="303004" y="0"/>
                  </a:lnTo>
                  <a:lnTo>
                    <a:pt x="303004" y="427032"/>
                  </a:lnTo>
                  <a:lnTo>
                    <a:pt x="0" y="4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15" r="-6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59910" y="485523"/>
              <a:ext cx="4118364" cy="428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43"/>
                </a:lnSpc>
                <a:spcBef>
                  <a:spcPct val="0"/>
                </a:spcBef>
              </a:pPr>
              <a:r>
                <a:rPr lang="en-US" sz="1959" b="1">
                  <a:solidFill>
                    <a:srgbClr val="066147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POURQUOI SPARK ?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3757072" y="3883295"/>
            <a:ext cx="1077736" cy="559594"/>
          </a:xfrm>
          <a:custGeom>
            <a:avLst/>
            <a:gdLst/>
            <a:ahLst/>
            <a:cxnLst/>
            <a:rect l="l" t="t" r="r" b="b"/>
            <a:pathLst>
              <a:path w="1077736" h="559594">
                <a:moveTo>
                  <a:pt x="0" y="0"/>
                </a:moveTo>
                <a:lnTo>
                  <a:pt x="1077737" y="0"/>
                </a:lnTo>
                <a:lnTo>
                  <a:pt x="1077737" y="559594"/>
                </a:lnTo>
                <a:lnTo>
                  <a:pt x="0" y="559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5405621" y="6259731"/>
            <a:ext cx="4873891" cy="2110806"/>
            <a:chOff x="0" y="0"/>
            <a:chExt cx="6498522" cy="2814409"/>
          </a:xfrm>
        </p:grpSpPr>
        <p:sp>
          <p:nvSpPr>
            <p:cNvPr id="45" name="TextBox 45"/>
            <p:cNvSpPr txBox="1"/>
            <p:nvPr/>
          </p:nvSpPr>
          <p:spPr>
            <a:xfrm>
              <a:off x="0" y="-28575"/>
              <a:ext cx="6350533" cy="75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680"/>
                </a:lnSpc>
              </a:pPr>
              <a:r>
                <a:rPr lang="en-US" sz="3600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ENRICHISSEMENT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3636" y="913735"/>
              <a:ext cx="5504886" cy="1900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10211" lvl="1" indent="-205106" algn="just">
                <a:lnSpc>
                  <a:spcPts val="2850"/>
                </a:lnSpc>
                <a:buFont typeface="Arial"/>
                <a:buChar char="•"/>
              </a:pPr>
              <a:r>
                <a:rPr lang="en-US" sz="1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Ajout des noms d’industries</a:t>
              </a:r>
            </a:p>
            <a:p>
              <a:pPr marL="410211" lvl="1" indent="-205106" algn="just">
                <a:lnSpc>
                  <a:spcPts val="2850"/>
                </a:lnSpc>
                <a:buFont typeface="Arial"/>
                <a:buChar char="•"/>
              </a:pPr>
              <a:r>
                <a:rPr lang="en-US" sz="1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Mapping des codes</a:t>
              </a:r>
            </a:p>
            <a:p>
              <a:pPr marL="410211" lvl="1" indent="-205106" algn="just">
                <a:lnSpc>
                  <a:spcPts val="2850"/>
                </a:lnSpc>
                <a:buFont typeface="Arial"/>
                <a:buChar char="•"/>
              </a:pPr>
              <a:r>
                <a:rPr lang="en-US" sz="1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Ajout d’indicateurs (is_disclosed)</a:t>
              </a:r>
            </a:p>
            <a:p>
              <a:pPr algn="just">
                <a:lnSpc>
                  <a:spcPts val="2850"/>
                </a:lnSpc>
              </a:pPr>
              <a:endParaRPr lang="en-US" sz="19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531396" y="3943748"/>
            <a:ext cx="4762900" cy="2562877"/>
            <a:chOff x="0" y="0"/>
            <a:chExt cx="6350533" cy="3417169"/>
          </a:xfrm>
        </p:grpSpPr>
        <p:sp>
          <p:nvSpPr>
            <p:cNvPr id="48" name="TextBox 48"/>
            <p:cNvSpPr txBox="1"/>
            <p:nvPr/>
          </p:nvSpPr>
          <p:spPr>
            <a:xfrm>
              <a:off x="0" y="-28575"/>
              <a:ext cx="6350533" cy="753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599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 TRANSFORMATION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912094"/>
              <a:ext cx="6350533" cy="2505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Création de nouvelles colonnes (sector_type, covid_period)</a:t>
              </a:r>
            </a:p>
            <a:p>
              <a:pPr marL="431801" lvl="1" indent="-215900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Normalisation des données</a:t>
              </a:r>
            </a:p>
            <a:p>
              <a:pPr marL="431801" lvl="1" indent="-215900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Typage des colonnes</a:t>
              </a:r>
            </a:p>
            <a:p>
              <a:pPr algn="l">
                <a:lnSpc>
                  <a:spcPts val="3000"/>
                </a:lnSpc>
              </a:pPr>
              <a:endParaRPr lang="en-US" sz="20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531396" y="8010518"/>
            <a:ext cx="5365424" cy="2222831"/>
            <a:chOff x="0" y="0"/>
            <a:chExt cx="7153899" cy="2963774"/>
          </a:xfrm>
        </p:grpSpPr>
        <p:sp>
          <p:nvSpPr>
            <p:cNvPr id="51" name="TextBox 51"/>
            <p:cNvSpPr txBox="1"/>
            <p:nvPr/>
          </p:nvSpPr>
          <p:spPr>
            <a:xfrm>
              <a:off x="0" y="-28575"/>
              <a:ext cx="7153899" cy="753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599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 QUALITÉ DES DONNÉES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966699"/>
              <a:ext cx="6350533" cy="1997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Suppression des doublons</a:t>
              </a:r>
            </a:p>
            <a:p>
              <a:pPr marL="431801" lvl="1" indent="-215900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Vérification des données</a:t>
              </a:r>
            </a:p>
            <a:p>
              <a:pPr marL="431801" lvl="1" indent="-215900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Préparation pour l’analyse</a:t>
              </a:r>
            </a:p>
            <a:p>
              <a:pPr algn="l">
                <a:lnSpc>
                  <a:spcPts val="3000"/>
                </a:lnSpc>
              </a:pPr>
              <a:endParaRPr lang="en-US" sz="20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9787" y="2052724"/>
            <a:ext cx="3027712" cy="1152539"/>
            <a:chOff x="0" y="0"/>
            <a:chExt cx="882773" cy="3360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36AD6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817912" y="2684698"/>
            <a:ext cx="3027712" cy="1152539"/>
            <a:chOff x="0" y="0"/>
            <a:chExt cx="882773" cy="3360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2C4B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559787" y="6075058"/>
            <a:ext cx="3027712" cy="1152539"/>
            <a:chOff x="0" y="0"/>
            <a:chExt cx="882773" cy="3360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C0A9BC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817912" y="6707033"/>
            <a:ext cx="3027712" cy="1152539"/>
            <a:chOff x="0" y="0"/>
            <a:chExt cx="882773" cy="3360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C3F6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235725" y="2052724"/>
            <a:ext cx="3027712" cy="1152539"/>
            <a:chOff x="0" y="0"/>
            <a:chExt cx="882773" cy="3360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C0A9BC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113342" y="2598837"/>
            <a:ext cx="3027712" cy="1152539"/>
            <a:chOff x="0" y="0"/>
            <a:chExt cx="882773" cy="33603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C3F6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235725" y="6160920"/>
            <a:ext cx="3027712" cy="1152539"/>
            <a:chOff x="0" y="0"/>
            <a:chExt cx="882773" cy="3360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8DDBAA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13342" y="6707033"/>
            <a:ext cx="3027712" cy="1152539"/>
            <a:chOff x="0" y="0"/>
            <a:chExt cx="882773" cy="33603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B1320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443" tIns="79443" rIns="79443" bIns="79443" rtlCol="0" anchor="ctr"/>
            <a:lstStyle/>
            <a:p>
              <a:pPr algn="ctr">
                <a:lnSpc>
                  <a:spcPts val="3284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373295" y="3122632"/>
            <a:ext cx="492633" cy="394107"/>
          </a:xfrm>
          <a:custGeom>
            <a:avLst/>
            <a:gdLst/>
            <a:ahLst/>
            <a:cxnLst/>
            <a:rect l="l" t="t" r="r" b="b"/>
            <a:pathLst>
              <a:path w="492633" h="394107">
                <a:moveTo>
                  <a:pt x="0" y="0"/>
                </a:moveTo>
                <a:lnTo>
                  <a:pt x="492633" y="0"/>
                </a:lnTo>
                <a:lnTo>
                  <a:pt x="492633" y="394107"/>
                </a:lnTo>
                <a:lnTo>
                  <a:pt x="0" y="394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2624647" y="2684698"/>
            <a:ext cx="7201795" cy="2772555"/>
            <a:chOff x="0" y="0"/>
            <a:chExt cx="9602394" cy="369674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0"/>
              <a:ext cx="9602394" cy="800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AGRÉGATION DES DONNÉES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1111139"/>
              <a:ext cx="9602394" cy="2585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Calcul des indicateurs globaux</a:t>
              </a:r>
            </a:p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Regroupement par année et secteur</a:t>
              </a:r>
            </a:p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Préparation des données pour l’analyse</a:t>
              </a:r>
            </a:p>
            <a:p>
              <a:pPr algn="l">
                <a:lnSpc>
                  <a:spcPts val="3900"/>
                </a:lnSpc>
              </a:pPr>
              <a:endPara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24647" y="6075058"/>
            <a:ext cx="5715400" cy="2672648"/>
            <a:chOff x="0" y="0"/>
            <a:chExt cx="7620533" cy="3563531"/>
          </a:xfrm>
        </p:grpSpPr>
        <p:sp>
          <p:nvSpPr>
            <p:cNvPr id="31" name="TextBox 31"/>
            <p:cNvSpPr txBox="1"/>
            <p:nvPr/>
          </p:nvSpPr>
          <p:spPr>
            <a:xfrm>
              <a:off x="0" y="0"/>
              <a:ext cx="7620533" cy="800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799"/>
                </a:lnSpc>
              </a:pPr>
              <a:r>
                <a:rPr lang="en-US" sz="3999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ANALYSE DES DONNÉES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77930"/>
              <a:ext cx="7620533" cy="2585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Comparaison Public vs Privé</a:t>
              </a:r>
            </a:p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Analyse des tendances</a:t>
              </a:r>
            </a:p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Identification des industries clés</a:t>
              </a:r>
            </a:p>
            <a:p>
              <a:pPr algn="l">
                <a:lnSpc>
                  <a:spcPts val="3900"/>
                </a:lnSpc>
              </a:pPr>
              <a:endPara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87797" y="6174188"/>
            <a:ext cx="6439795" cy="2672648"/>
            <a:chOff x="0" y="0"/>
            <a:chExt cx="8586394" cy="3563531"/>
          </a:xfrm>
        </p:grpSpPr>
        <p:sp>
          <p:nvSpPr>
            <p:cNvPr id="34" name="TextBox 34"/>
            <p:cNvSpPr txBox="1"/>
            <p:nvPr/>
          </p:nvSpPr>
          <p:spPr>
            <a:xfrm>
              <a:off x="0" y="0"/>
              <a:ext cx="8586394" cy="800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799"/>
                </a:lnSpc>
              </a:pPr>
              <a:r>
                <a:rPr lang="en-US" sz="3999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OPTIMISATION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7673" y="977930"/>
              <a:ext cx="7668721" cy="2585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Création de tables agrégées</a:t>
              </a:r>
            </a:p>
            <a:p>
              <a:pPr algn="r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Optimisation pour les requêtes SQL</a:t>
              </a:r>
            </a:p>
            <a:p>
              <a:pPr algn="r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Préparation pour le dashboard</a:t>
              </a:r>
            </a:p>
            <a:p>
              <a:pPr algn="r">
                <a:lnSpc>
                  <a:spcPts val="3900"/>
                </a:lnSpc>
              </a:pPr>
              <a:endPara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12192" y="2684698"/>
            <a:ext cx="5715400" cy="2734004"/>
            <a:chOff x="0" y="0"/>
            <a:chExt cx="7620533" cy="3645338"/>
          </a:xfrm>
        </p:grpSpPr>
        <p:sp>
          <p:nvSpPr>
            <p:cNvPr id="37" name="TextBox 37"/>
            <p:cNvSpPr txBox="1"/>
            <p:nvPr/>
          </p:nvSpPr>
          <p:spPr>
            <a:xfrm>
              <a:off x="0" y="0"/>
              <a:ext cx="7620533" cy="800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799"/>
                </a:lnSpc>
              </a:pPr>
              <a:r>
                <a:rPr lang="en-US" sz="3999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CALCUL DES KPIs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1059737"/>
              <a:ext cx="7620533" cy="2585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Total de l’emploi</a:t>
              </a:r>
            </a:p>
            <a:p>
              <a:pPr algn="r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Salaire moyen</a:t>
              </a:r>
            </a:p>
            <a:p>
              <a:pPr algn="r">
                <a:lnSpc>
                  <a:spcPts val="3900"/>
                </a:lnSpc>
              </a:pPr>
              <a:r>
                <a:rPr lang="en-US" sz="26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Nombre d’établissements</a:t>
              </a:r>
            </a:p>
            <a:p>
              <a:pPr algn="r">
                <a:lnSpc>
                  <a:spcPts val="3900"/>
                </a:lnSpc>
              </a:pPr>
              <a:endParaRPr lang="en-US" sz="26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73295" y="7116405"/>
            <a:ext cx="492633" cy="394107"/>
          </a:xfrm>
          <a:custGeom>
            <a:avLst/>
            <a:gdLst/>
            <a:ahLst/>
            <a:cxnLst/>
            <a:rect l="l" t="t" r="r" b="b"/>
            <a:pathLst>
              <a:path w="492633" h="394107">
                <a:moveTo>
                  <a:pt x="0" y="0"/>
                </a:moveTo>
                <a:lnTo>
                  <a:pt x="492633" y="0"/>
                </a:lnTo>
                <a:lnTo>
                  <a:pt x="492633" y="394107"/>
                </a:lnTo>
                <a:lnTo>
                  <a:pt x="0" y="394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6456242" y="2978053"/>
            <a:ext cx="492633" cy="394107"/>
          </a:xfrm>
          <a:custGeom>
            <a:avLst/>
            <a:gdLst/>
            <a:ahLst/>
            <a:cxnLst/>
            <a:rect l="l" t="t" r="r" b="b"/>
            <a:pathLst>
              <a:path w="492633" h="394107">
                <a:moveTo>
                  <a:pt x="0" y="0"/>
                </a:moveTo>
                <a:lnTo>
                  <a:pt x="492633" y="0"/>
                </a:lnTo>
                <a:lnTo>
                  <a:pt x="492633" y="394106"/>
                </a:lnTo>
                <a:lnTo>
                  <a:pt x="0" y="394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6456242" y="7086249"/>
            <a:ext cx="492633" cy="394107"/>
          </a:xfrm>
          <a:custGeom>
            <a:avLst/>
            <a:gdLst/>
            <a:ahLst/>
            <a:cxnLst/>
            <a:rect l="l" t="t" r="r" b="b"/>
            <a:pathLst>
              <a:path w="492633" h="394107">
                <a:moveTo>
                  <a:pt x="0" y="0"/>
                </a:moveTo>
                <a:lnTo>
                  <a:pt x="492633" y="0"/>
                </a:lnTo>
                <a:lnTo>
                  <a:pt x="492633" y="394106"/>
                </a:lnTo>
                <a:lnTo>
                  <a:pt x="0" y="394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657541" y="941291"/>
            <a:ext cx="14927653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 spc="-60">
                <a:solidFill>
                  <a:srgbClr val="0B1320"/>
                </a:solidFill>
                <a:latin typeface="Heebo Heavy"/>
                <a:ea typeface="Heebo Heavy"/>
                <a:cs typeface="Heebo Heavy"/>
                <a:sym typeface="Heebo Heavy"/>
              </a:rPr>
              <a:t>ANALYSE &amp; KPIS (GOLD LAYER)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54998" y="-1291154"/>
            <a:ext cx="4971840" cy="6126322"/>
            <a:chOff x="0" y="0"/>
            <a:chExt cx="6629120" cy="8168430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633038" y="1807108"/>
              <a:ext cx="6068061" cy="2309888"/>
              <a:chOff x="0" y="0"/>
              <a:chExt cx="882773" cy="33603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36AD61"/>
                </a:solidFill>
                <a:prstDash val="sysDot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2700000">
              <a:off x="-71978" y="4051434"/>
              <a:ext cx="6068061" cy="2309888"/>
              <a:chOff x="0" y="0"/>
              <a:chExt cx="88277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4772874" y="6915507"/>
            <a:ext cx="4294481" cy="5291678"/>
            <a:chOff x="0" y="0"/>
            <a:chExt cx="5725975" cy="7055571"/>
          </a:xfrm>
        </p:grpSpPr>
        <p:grpSp>
          <p:nvGrpSpPr>
            <p:cNvPr id="10" name="Group 10"/>
            <p:cNvGrpSpPr/>
            <p:nvPr/>
          </p:nvGrpSpPr>
          <p:grpSpPr>
            <a:xfrm rot="-2700000">
              <a:off x="546793" y="1560910"/>
              <a:ext cx="5241354" cy="1995191"/>
              <a:chOff x="0" y="0"/>
              <a:chExt cx="882773" cy="3360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36AD61"/>
                </a:solidFill>
                <a:prstDash val="lgDash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60580" tIns="60580" rIns="60580" bIns="60580" rtlCol="0" anchor="ctr"/>
              <a:lstStyle/>
              <a:p>
                <a:pPr algn="ctr">
                  <a:lnSpc>
                    <a:spcPts val="2504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2700000">
              <a:off x="-62172" y="3499471"/>
              <a:ext cx="5241354" cy="1995191"/>
              <a:chOff x="0" y="0"/>
              <a:chExt cx="882773" cy="3360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B132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60580" tIns="60580" rIns="60580" bIns="60580" rtlCol="0" anchor="ctr"/>
              <a:lstStyle/>
              <a:p>
                <a:pPr algn="ctr">
                  <a:lnSpc>
                    <a:spcPts val="2504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72634" y="4416836"/>
            <a:ext cx="3301308" cy="5144511"/>
            <a:chOff x="0" y="0"/>
            <a:chExt cx="4401744" cy="6859347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319408" y="0"/>
              <a:ext cx="3809252" cy="3809252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6350000"/>
                    </a:moveTo>
                    <a:lnTo>
                      <a:pt x="1270000" y="6350000"/>
                    </a:lnTo>
                    <a:cubicBezTo>
                      <a:pt x="568960" y="6350000"/>
                      <a:pt x="0" y="5781040"/>
                      <a:pt x="0" y="5080000"/>
                    </a:cubicBezTo>
                    <a:lnTo>
                      <a:pt x="0" y="1270000"/>
                    </a:lnTo>
                    <a:cubicBezTo>
                      <a:pt x="0" y="568960"/>
                      <a:pt x="568960" y="0"/>
                      <a:pt x="1270000" y="0"/>
                    </a:cubicBezTo>
                    <a:lnTo>
                      <a:pt x="5080000" y="0"/>
                    </a:lnTo>
                    <a:cubicBezTo>
                      <a:pt x="5781040" y="0"/>
                      <a:pt x="6350000" y="568960"/>
                      <a:pt x="6350000" y="1270000"/>
                    </a:cubicBezTo>
                    <a:lnTo>
                      <a:pt x="6350000" y="5080000"/>
                    </a:lnTo>
                    <a:cubicBezTo>
                      <a:pt x="6350000" y="5781040"/>
                      <a:pt x="5781040" y="6350000"/>
                      <a:pt x="5080000" y="635000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9018" r="-13968"/>
                </a:stretch>
              </a:blip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19050"/>
                    </a:moveTo>
                    <a:cubicBezTo>
                      <a:pt x="5769610" y="19050"/>
                      <a:pt x="6330950" y="580390"/>
                      <a:pt x="6330950" y="1270000"/>
                    </a:cubicBezTo>
                    <a:lnTo>
                      <a:pt x="6330950" y="5080000"/>
                    </a:lnTo>
                    <a:cubicBezTo>
                      <a:pt x="6330950" y="5769610"/>
                      <a:pt x="5769610" y="6330950"/>
                      <a:pt x="5080000" y="6330950"/>
                    </a:cubicBezTo>
                    <a:lnTo>
                      <a:pt x="1270000" y="6330950"/>
                    </a:lnTo>
                    <a:cubicBezTo>
                      <a:pt x="580390" y="6330950"/>
                      <a:pt x="19050" y="5769610"/>
                      <a:pt x="19050" y="5080000"/>
                    </a:cubicBezTo>
                    <a:lnTo>
                      <a:pt x="19050" y="1270000"/>
                    </a:lnTo>
                    <a:cubicBezTo>
                      <a:pt x="19050" y="580390"/>
                      <a:pt x="580390" y="19050"/>
                      <a:pt x="1270000" y="19050"/>
                    </a:cubicBezTo>
                    <a:lnTo>
                      <a:pt x="5080000" y="19050"/>
                    </a:lnTo>
                    <a:moveTo>
                      <a:pt x="5080000" y="0"/>
                    </a:moveTo>
                    <a:lnTo>
                      <a:pt x="1270000" y="0"/>
                    </a:lnTo>
                    <a:cubicBezTo>
                      <a:pt x="568960" y="0"/>
                      <a:pt x="0" y="568960"/>
                      <a:pt x="0" y="1270000"/>
                    </a:cubicBezTo>
                    <a:lnTo>
                      <a:pt x="0" y="5080000"/>
                    </a:lnTo>
                    <a:cubicBezTo>
                      <a:pt x="0" y="5781040"/>
                      <a:pt x="568960" y="6350000"/>
                      <a:pt x="1270000" y="6350000"/>
                    </a:cubicBezTo>
                    <a:lnTo>
                      <a:pt x="5080000" y="6350000"/>
                    </a:lnTo>
                    <a:cubicBezTo>
                      <a:pt x="5781040" y="6350000"/>
                      <a:pt x="6350000" y="5781040"/>
                      <a:pt x="6350000" y="5080000"/>
                    </a:cubicBezTo>
                    <a:lnTo>
                      <a:pt x="6350000" y="1270000"/>
                    </a:lnTo>
                    <a:cubicBezTo>
                      <a:pt x="6350000" y="568960"/>
                      <a:pt x="5781040" y="0"/>
                      <a:pt x="5080000" y="0"/>
                    </a:cubicBezTo>
                    <a:lnTo>
                      <a:pt x="5080000" y="0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0" y="4559833"/>
              <a:ext cx="4401744" cy="603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4"/>
                </a:lnSpc>
              </a:pPr>
              <a:r>
                <a:rPr lang="en-US" sz="2903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VUE D’ENSEMBLE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5301531"/>
              <a:ext cx="4401744" cy="1557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5"/>
                </a:lnSpc>
              </a:pPr>
              <a:r>
                <a:rPr lang="en-US" sz="2096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suivi global de l’emploi et des tendance</a:t>
              </a:r>
            </a:p>
            <a:p>
              <a:pPr algn="ctr">
                <a:lnSpc>
                  <a:spcPts val="3145"/>
                </a:lnSpc>
              </a:pPr>
              <a:endParaRPr lang="en-US" sz="2096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98586" y="3350543"/>
            <a:ext cx="3346622" cy="5620021"/>
            <a:chOff x="0" y="0"/>
            <a:chExt cx="4462163" cy="7493361"/>
          </a:xfrm>
        </p:grpSpPr>
        <p:grpSp>
          <p:nvGrpSpPr>
            <p:cNvPr id="23" name="Group 23"/>
            <p:cNvGrpSpPr>
              <a:grpSpLocks noChangeAspect="1"/>
            </p:cNvGrpSpPr>
            <p:nvPr/>
          </p:nvGrpSpPr>
          <p:grpSpPr>
            <a:xfrm>
              <a:off x="323792" y="0"/>
              <a:ext cx="3861538" cy="3861538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6350000"/>
                    </a:moveTo>
                    <a:lnTo>
                      <a:pt x="1270000" y="6350000"/>
                    </a:lnTo>
                    <a:cubicBezTo>
                      <a:pt x="568960" y="6350000"/>
                      <a:pt x="0" y="5781040"/>
                      <a:pt x="0" y="5080000"/>
                    </a:cubicBezTo>
                    <a:lnTo>
                      <a:pt x="0" y="1270000"/>
                    </a:lnTo>
                    <a:cubicBezTo>
                      <a:pt x="0" y="568960"/>
                      <a:pt x="568960" y="0"/>
                      <a:pt x="1270000" y="0"/>
                    </a:cubicBezTo>
                    <a:lnTo>
                      <a:pt x="5080000" y="0"/>
                    </a:lnTo>
                    <a:cubicBezTo>
                      <a:pt x="5781040" y="0"/>
                      <a:pt x="6350000" y="568960"/>
                      <a:pt x="6350000" y="1270000"/>
                    </a:cubicBezTo>
                    <a:lnTo>
                      <a:pt x="6350000" y="5080000"/>
                    </a:lnTo>
                    <a:cubicBezTo>
                      <a:pt x="6350000" y="5781040"/>
                      <a:pt x="5781040" y="6350000"/>
                      <a:pt x="5080000" y="635000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4821" r="-14821"/>
                </a:stretch>
              </a:blipFill>
            </p:spPr>
          </p:sp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19050"/>
                    </a:moveTo>
                    <a:cubicBezTo>
                      <a:pt x="5769610" y="19050"/>
                      <a:pt x="6330950" y="580390"/>
                      <a:pt x="6330950" y="1270000"/>
                    </a:cubicBezTo>
                    <a:lnTo>
                      <a:pt x="6330950" y="5080000"/>
                    </a:lnTo>
                    <a:cubicBezTo>
                      <a:pt x="6330950" y="5769610"/>
                      <a:pt x="5769610" y="6330950"/>
                      <a:pt x="5080000" y="6330950"/>
                    </a:cubicBezTo>
                    <a:lnTo>
                      <a:pt x="1270000" y="6330950"/>
                    </a:lnTo>
                    <a:cubicBezTo>
                      <a:pt x="580390" y="6330950"/>
                      <a:pt x="19050" y="5769610"/>
                      <a:pt x="19050" y="5080000"/>
                    </a:cubicBezTo>
                    <a:lnTo>
                      <a:pt x="19050" y="1270000"/>
                    </a:lnTo>
                    <a:cubicBezTo>
                      <a:pt x="19050" y="580390"/>
                      <a:pt x="580390" y="19050"/>
                      <a:pt x="1270000" y="19050"/>
                    </a:cubicBezTo>
                    <a:lnTo>
                      <a:pt x="5080000" y="19050"/>
                    </a:lnTo>
                    <a:moveTo>
                      <a:pt x="5080000" y="0"/>
                    </a:moveTo>
                    <a:lnTo>
                      <a:pt x="1270000" y="0"/>
                    </a:lnTo>
                    <a:cubicBezTo>
                      <a:pt x="568960" y="0"/>
                      <a:pt x="0" y="568960"/>
                      <a:pt x="0" y="1270000"/>
                    </a:cubicBezTo>
                    <a:lnTo>
                      <a:pt x="0" y="5080000"/>
                    </a:lnTo>
                    <a:cubicBezTo>
                      <a:pt x="0" y="5781040"/>
                      <a:pt x="568960" y="6350000"/>
                      <a:pt x="1270000" y="6350000"/>
                    </a:cubicBezTo>
                    <a:lnTo>
                      <a:pt x="5080000" y="6350000"/>
                    </a:lnTo>
                    <a:cubicBezTo>
                      <a:pt x="5781040" y="6350000"/>
                      <a:pt x="6350000" y="5781040"/>
                      <a:pt x="6350000" y="5080000"/>
                    </a:cubicBezTo>
                    <a:lnTo>
                      <a:pt x="6350000" y="1270000"/>
                    </a:lnTo>
                    <a:cubicBezTo>
                      <a:pt x="6350000" y="568960"/>
                      <a:pt x="5781040" y="0"/>
                      <a:pt x="5080000" y="0"/>
                    </a:cubicBezTo>
                    <a:lnTo>
                      <a:pt x="5080000" y="0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0" y="4613158"/>
              <a:ext cx="4462163" cy="6210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25"/>
                </a:lnSpc>
              </a:pPr>
              <a:r>
                <a:rPr lang="en-US" sz="2943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TOP INDUSTRIES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5384741"/>
              <a:ext cx="4462163" cy="2108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88"/>
                </a:lnSpc>
              </a:pPr>
              <a:r>
                <a:rPr lang="en-US" sz="2125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 identification des industries les plus importantes</a:t>
              </a:r>
            </a:p>
            <a:p>
              <a:pPr algn="ctr">
                <a:lnSpc>
                  <a:spcPts val="3188"/>
                </a:lnSpc>
              </a:pPr>
              <a:endParaRPr lang="en-US" sz="2125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788267" y="3869060"/>
            <a:ext cx="3295994" cy="5136230"/>
            <a:chOff x="0" y="0"/>
            <a:chExt cx="4394659" cy="6848306"/>
          </a:xfrm>
        </p:grpSpPr>
        <p:grpSp>
          <p:nvGrpSpPr>
            <p:cNvPr id="29" name="Group 29"/>
            <p:cNvGrpSpPr>
              <a:grpSpLocks noChangeAspect="1"/>
            </p:cNvGrpSpPr>
            <p:nvPr/>
          </p:nvGrpSpPr>
          <p:grpSpPr>
            <a:xfrm>
              <a:off x="318894" y="0"/>
              <a:ext cx="3803120" cy="3803120"/>
              <a:chOff x="0" y="0"/>
              <a:chExt cx="6350000" cy="6350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6350000"/>
                    </a:moveTo>
                    <a:lnTo>
                      <a:pt x="1270000" y="6350000"/>
                    </a:lnTo>
                    <a:cubicBezTo>
                      <a:pt x="568960" y="6350000"/>
                      <a:pt x="0" y="5781040"/>
                      <a:pt x="0" y="5080000"/>
                    </a:cubicBezTo>
                    <a:lnTo>
                      <a:pt x="0" y="1270000"/>
                    </a:lnTo>
                    <a:cubicBezTo>
                      <a:pt x="0" y="568960"/>
                      <a:pt x="568960" y="0"/>
                      <a:pt x="1270000" y="0"/>
                    </a:cubicBezTo>
                    <a:lnTo>
                      <a:pt x="5080000" y="0"/>
                    </a:lnTo>
                    <a:cubicBezTo>
                      <a:pt x="5781040" y="0"/>
                      <a:pt x="6350000" y="568960"/>
                      <a:pt x="6350000" y="1270000"/>
                    </a:cubicBezTo>
                    <a:lnTo>
                      <a:pt x="6350000" y="5080000"/>
                    </a:lnTo>
                    <a:cubicBezTo>
                      <a:pt x="6350000" y="5781040"/>
                      <a:pt x="5781040" y="6350000"/>
                      <a:pt x="5080000" y="635000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5555" r="-15555"/>
                </a:stretch>
              </a:blipFill>
            </p:spPr>
          </p:sp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19050"/>
                    </a:moveTo>
                    <a:cubicBezTo>
                      <a:pt x="5769610" y="19050"/>
                      <a:pt x="6330950" y="580390"/>
                      <a:pt x="6330950" y="1270000"/>
                    </a:cubicBezTo>
                    <a:lnTo>
                      <a:pt x="6330950" y="5080000"/>
                    </a:lnTo>
                    <a:cubicBezTo>
                      <a:pt x="6330950" y="5769610"/>
                      <a:pt x="5769610" y="6330950"/>
                      <a:pt x="5080000" y="6330950"/>
                    </a:cubicBezTo>
                    <a:lnTo>
                      <a:pt x="1270000" y="6330950"/>
                    </a:lnTo>
                    <a:cubicBezTo>
                      <a:pt x="580390" y="6330950"/>
                      <a:pt x="19050" y="5769610"/>
                      <a:pt x="19050" y="5080000"/>
                    </a:cubicBezTo>
                    <a:lnTo>
                      <a:pt x="19050" y="1270000"/>
                    </a:lnTo>
                    <a:cubicBezTo>
                      <a:pt x="19050" y="580390"/>
                      <a:pt x="580390" y="19050"/>
                      <a:pt x="1270000" y="19050"/>
                    </a:cubicBezTo>
                    <a:lnTo>
                      <a:pt x="5080000" y="19050"/>
                    </a:lnTo>
                    <a:moveTo>
                      <a:pt x="5080000" y="0"/>
                    </a:moveTo>
                    <a:lnTo>
                      <a:pt x="1270000" y="0"/>
                    </a:lnTo>
                    <a:cubicBezTo>
                      <a:pt x="568960" y="0"/>
                      <a:pt x="0" y="568960"/>
                      <a:pt x="0" y="1270000"/>
                    </a:cubicBezTo>
                    <a:lnTo>
                      <a:pt x="0" y="5080000"/>
                    </a:lnTo>
                    <a:cubicBezTo>
                      <a:pt x="0" y="5781040"/>
                      <a:pt x="568960" y="6350000"/>
                      <a:pt x="1270000" y="6350000"/>
                    </a:cubicBezTo>
                    <a:lnTo>
                      <a:pt x="5080000" y="6350000"/>
                    </a:lnTo>
                    <a:cubicBezTo>
                      <a:pt x="5781040" y="6350000"/>
                      <a:pt x="6350000" y="5781040"/>
                      <a:pt x="6350000" y="5080000"/>
                    </a:cubicBezTo>
                    <a:lnTo>
                      <a:pt x="6350000" y="1270000"/>
                    </a:lnTo>
                    <a:cubicBezTo>
                      <a:pt x="6350000" y="568960"/>
                      <a:pt x="5781040" y="0"/>
                      <a:pt x="5080000" y="0"/>
                    </a:cubicBezTo>
                    <a:lnTo>
                      <a:pt x="5080000" y="0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0" y="4552463"/>
              <a:ext cx="4394659" cy="602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68"/>
                </a:lnSpc>
              </a:pPr>
              <a:r>
                <a:rPr lang="en-US" sz="2898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SALAIRE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5292890"/>
              <a:ext cx="4394659" cy="1555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093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analyse des salaires et comparaison Public vs Privé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59534" y="2875406"/>
            <a:ext cx="3398543" cy="4884855"/>
            <a:chOff x="0" y="0"/>
            <a:chExt cx="4531391" cy="6513141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328816" y="0"/>
              <a:ext cx="3921447" cy="3921447"/>
              <a:chOff x="0" y="0"/>
              <a:chExt cx="6350000" cy="6350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6350000"/>
                    </a:moveTo>
                    <a:lnTo>
                      <a:pt x="1270000" y="6350000"/>
                    </a:lnTo>
                    <a:cubicBezTo>
                      <a:pt x="568960" y="6350000"/>
                      <a:pt x="0" y="5781040"/>
                      <a:pt x="0" y="5080000"/>
                    </a:cubicBezTo>
                    <a:lnTo>
                      <a:pt x="0" y="1270000"/>
                    </a:lnTo>
                    <a:cubicBezTo>
                      <a:pt x="0" y="568960"/>
                      <a:pt x="568960" y="0"/>
                      <a:pt x="1270000" y="0"/>
                    </a:cubicBezTo>
                    <a:lnTo>
                      <a:pt x="5080000" y="0"/>
                    </a:lnTo>
                    <a:cubicBezTo>
                      <a:pt x="5781040" y="0"/>
                      <a:pt x="6350000" y="568960"/>
                      <a:pt x="6350000" y="1270000"/>
                    </a:cubicBezTo>
                    <a:lnTo>
                      <a:pt x="6350000" y="5080000"/>
                    </a:lnTo>
                    <a:cubicBezTo>
                      <a:pt x="6350000" y="5781040"/>
                      <a:pt x="5781040" y="6350000"/>
                      <a:pt x="508000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3860" r="-13860"/>
                </a:stretch>
              </a:blipFill>
            </p:spPr>
          </p:sp>
          <p:sp>
            <p:nvSpPr>
              <p:cNvPr id="37" name="Freeform 3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19050"/>
                    </a:moveTo>
                    <a:cubicBezTo>
                      <a:pt x="5769610" y="19050"/>
                      <a:pt x="6330950" y="580390"/>
                      <a:pt x="6330950" y="1270000"/>
                    </a:cubicBezTo>
                    <a:lnTo>
                      <a:pt x="6330950" y="5080000"/>
                    </a:lnTo>
                    <a:cubicBezTo>
                      <a:pt x="6330950" y="5769610"/>
                      <a:pt x="5769610" y="6330950"/>
                      <a:pt x="5080000" y="6330950"/>
                    </a:cubicBezTo>
                    <a:lnTo>
                      <a:pt x="1270000" y="6330950"/>
                    </a:lnTo>
                    <a:cubicBezTo>
                      <a:pt x="580390" y="6330950"/>
                      <a:pt x="19050" y="5769610"/>
                      <a:pt x="19050" y="5080000"/>
                    </a:cubicBezTo>
                    <a:lnTo>
                      <a:pt x="19050" y="1270000"/>
                    </a:lnTo>
                    <a:cubicBezTo>
                      <a:pt x="19050" y="580390"/>
                      <a:pt x="580390" y="19050"/>
                      <a:pt x="1270000" y="19050"/>
                    </a:cubicBezTo>
                    <a:lnTo>
                      <a:pt x="5080000" y="19050"/>
                    </a:lnTo>
                    <a:moveTo>
                      <a:pt x="5080000" y="0"/>
                    </a:moveTo>
                    <a:lnTo>
                      <a:pt x="1270000" y="0"/>
                    </a:lnTo>
                    <a:cubicBezTo>
                      <a:pt x="568960" y="0"/>
                      <a:pt x="0" y="568960"/>
                      <a:pt x="0" y="1270000"/>
                    </a:cubicBezTo>
                    <a:lnTo>
                      <a:pt x="0" y="5080000"/>
                    </a:lnTo>
                    <a:cubicBezTo>
                      <a:pt x="0" y="5781040"/>
                      <a:pt x="568960" y="6350000"/>
                      <a:pt x="1270000" y="6350000"/>
                    </a:cubicBezTo>
                    <a:lnTo>
                      <a:pt x="5080000" y="6350000"/>
                    </a:lnTo>
                    <a:cubicBezTo>
                      <a:pt x="5781040" y="6350000"/>
                      <a:pt x="6350000" y="5781040"/>
                      <a:pt x="6350000" y="5080000"/>
                    </a:cubicBezTo>
                    <a:lnTo>
                      <a:pt x="6350000" y="1270000"/>
                    </a:lnTo>
                    <a:cubicBezTo>
                      <a:pt x="6350000" y="568960"/>
                      <a:pt x="5781040" y="0"/>
                      <a:pt x="5080000" y="0"/>
                    </a:cubicBezTo>
                    <a:lnTo>
                      <a:pt x="5080000" y="0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0" y="4685172"/>
              <a:ext cx="4531391" cy="630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85"/>
                </a:lnSpc>
              </a:pPr>
              <a:r>
                <a:rPr lang="en-US" sz="2988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COVID IMPACT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5469168"/>
              <a:ext cx="4531391" cy="1043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7"/>
                </a:lnSpc>
              </a:pPr>
              <a:r>
                <a:rPr lang="en-US" sz="2158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analyse de l’impact de la pandémie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772402" y="2320085"/>
            <a:ext cx="3227932" cy="5494839"/>
            <a:chOff x="0" y="0"/>
            <a:chExt cx="4303910" cy="7326452"/>
          </a:xfrm>
        </p:grpSpPr>
        <p:grpSp>
          <p:nvGrpSpPr>
            <p:cNvPr id="41" name="Group 41"/>
            <p:cNvGrpSpPr>
              <a:grpSpLocks noChangeAspect="1"/>
            </p:cNvGrpSpPr>
            <p:nvPr/>
          </p:nvGrpSpPr>
          <p:grpSpPr>
            <a:xfrm>
              <a:off x="312309" y="0"/>
              <a:ext cx="3724586" cy="3724586"/>
              <a:chOff x="0" y="0"/>
              <a:chExt cx="6350000" cy="6350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6350000"/>
                    </a:moveTo>
                    <a:lnTo>
                      <a:pt x="1270000" y="6350000"/>
                    </a:lnTo>
                    <a:cubicBezTo>
                      <a:pt x="568960" y="6350000"/>
                      <a:pt x="0" y="5781040"/>
                      <a:pt x="0" y="5080000"/>
                    </a:cubicBezTo>
                    <a:lnTo>
                      <a:pt x="0" y="1270000"/>
                    </a:lnTo>
                    <a:cubicBezTo>
                      <a:pt x="0" y="568960"/>
                      <a:pt x="568960" y="0"/>
                      <a:pt x="1270000" y="0"/>
                    </a:cubicBezTo>
                    <a:lnTo>
                      <a:pt x="5080000" y="0"/>
                    </a:lnTo>
                    <a:cubicBezTo>
                      <a:pt x="5781040" y="0"/>
                      <a:pt x="6350000" y="568960"/>
                      <a:pt x="6350000" y="1270000"/>
                    </a:cubicBezTo>
                    <a:lnTo>
                      <a:pt x="6350000" y="5080000"/>
                    </a:lnTo>
                    <a:cubicBezTo>
                      <a:pt x="6350000" y="5781040"/>
                      <a:pt x="5781040" y="6350000"/>
                      <a:pt x="5080000" y="635000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5870" r="-15870"/>
                </a:stretch>
              </a:blipFill>
            </p:spPr>
          </p:sp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5080000" y="19050"/>
                    </a:moveTo>
                    <a:cubicBezTo>
                      <a:pt x="5769610" y="19050"/>
                      <a:pt x="6330950" y="580390"/>
                      <a:pt x="6330950" y="1270000"/>
                    </a:cubicBezTo>
                    <a:lnTo>
                      <a:pt x="6330950" y="5080000"/>
                    </a:lnTo>
                    <a:cubicBezTo>
                      <a:pt x="6330950" y="5769610"/>
                      <a:pt x="5769610" y="6330950"/>
                      <a:pt x="5080000" y="6330950"/>
                    </a:cubicBezTo>
                    <a:lnTo>
                      <a:pt x="1270000" y="6330950"/>
                    </a:lnTo>
                    <a:cubicBezTo>
                      <a:pt x="580390" y="6330950"/>
                      <a:pt x="19050" y="5769610"/>
                      <a:pt x="19050" y="5080000"/>
                    </a:cubicBezTo>
                    <a:lnTo>
                      <a:pt x="19050" y="1270000"/>
                    </a:lnTo>
                    <a:cubicBezTo>
                      <a:pt x="19050" y="580390"/>
                      <a:pt x="580390" y="19050"/>
                      <a:pt x="1270000" y="19050"/>
                    </a:cubicBezTo>
                    <a:lnTo>
                      <a:pt x="5080000" y="19050"/>
                    </a:lnTo>
                    <a:moveTo>
                      <a:pt x="5080000" y="0"/>
                    </a:moveTo>
                    <a:lnTo>
                      <a:pt x="1270000" y="0"/>
                    </a:lnTo>
                    <a:cubicBezTo>
                      <a:pt x="568960" y="0"/>
                      <a:pt x="0" y="568960"/>
                      <a:pt x="0" y="1270000"/>
                    </a:cubicBezTo>
                    <a:lnTo>
                      <a:pt x="0" y="5080000"/>
                    </a:lnTo>
                    <a:cubicBezTo>
                      <a:pt x="0" y="5781040"/>
                      <a:pt x="568960" y="6350000"/>
                      <a:pt x="1270000" y="6350000"/>
                    </a:cubicBezTo>
                    <a:lnTo>
                      <a:pt x="5080000" y="6350000"/>
                    </a:lnTo>
                    <a:cubicBezTo>
                      <a:pt x="5781040" y="6350000"/>
                      <a:pt x="6350000" y="5781040"/>
                      <a:pt x="6350000" y="5080000"/>
                    </a:cubicBezTo>
                    <a:lnTo>
                      <a:pt x="6350000" y="1270000"/>
                    </a:lnTo>
                    <a:cubicBezTo>
                      <a:pt x="6350000" y="568960"/>
                      <a:pt x="5781040" y="0"/>
                      <a:pt x="5080000" y="0"/>
                    </a:cubicBezTo>
                    <a:lnTo>
                      <a:pt x="5080000" y="0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0" y="4448536"/>
              <a:ext cx="4303910" cy="1219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90"/>
                </a:lnSpc>
              </a:pPr>
              <a:r>
                <a:rPr lang="en-US" sz="2838" b="1">
                  <a:solidFill>
                    <a:srgbClr val="0B132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CROISSANCE INDUSTRIES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5811304"/>
              <a:ext cx="4303910" cy="1515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US" sz="205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étude des secteurs en croissance ou en déclin</a:t>
              </a:r>
            </a:p>
            <a:p>
              <a:pPr algn="ctr">
                <a:lnSpc>
                  <a:spcPts val="3075"/>
                </a:lnSpc>
              </a:pPr>
              <a:endParaRPr lang="en-US" sz="205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3281382" y="619114"/>
            <a:ext cx="14927653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 spc="-60">
                <a:solidFill>
                  <a:srgbClr val="0B1320"/>
                </a:solidFill>
                <a:latin typeface="Heebo Heavy"/>
                <a:ea typeface="Heebo Heavy"/>
                <a:cs typeface="Heebo Heavy"/>
                <a:sym typeface="Heebo Heavy"/>
              </a:rPr>
              <a:t>VISUALISATION &amp;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08805" y="8064069"/>
            <a:ext cx="6110622" cy="7529534"/>
            <a:chOff x="0" y="0"/>
            <a:chExt cx="8147496" cy="10039379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778033" y="2221020"/>
              <a:ext cx="7457928" cy="2838959"/>
              <a:chOff x="0" y="0"/>
              <a:chExt cx="882773" cy="33603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FDFFF8"/>
                </a:solidFill>
                <a:prstDash val="sysDot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882773" cy="412239"/>
              </a:xfrm>
              <a:prstGeom prst="rect">
                <a:avLst/>
              </a:prstGeom>
            </p:spPr>
            <p:txBody>
              <a:bodyPr lIns="139079" tIns="139079" rIns="139079" bIns="139079" rtlCol="0" anchor="ctr"/>
              <a:lstStyle/>
              <a:p>
                <a:pPr algn="ctr">
                  <a:lnSpc>
                    <a:spcPts val="574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2700000">
              <a:off x="-88465" y="4979400"/>
              <a:ext cx="7457928" cy="2838959"/>
              <a:chOff x="0" y="0"/>
              <a:chExt cx="88277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882773" cy="412239"/>
              </a:xfrm>
              <a:prstGeom prst="rect">
                <a:avLst/>
              </a:prstGeom>
            </p:spPr>
            <p:txBody>
              <a:bodyPr lIns="139079" tIns="139079" rIns="139079" bIns="139079" rtlCol="0" anchor="ctr"/>
              <a:lstStyle/>
              <a:p>
                <a:pPr algn="ctr">
                  <a:lnSpc>
                    <a:spcPts val="574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5802080" y="-3673282"/>
            <a:ext cx="4971840" cy="6126322"/>
            <a:chOff x="0" y="0"/>
            <a:chExt cx="6629120" cy="8168430"/>
          </a:xfrm>
        </p:grpSpPr>
        <p:grpSp>
          <p:nvGrpSpPr>
            <p:cNvPr id="10" name="Group 10"/>
            <p:cNvGrpSpPr/>
            <p:nvPr/>
          </p:nvGrpSpPr>
          <p:grpSpPr>
            <a:xfrm rot="-2700000">
              <a:off x="633038" y="1807108"/>
              <a:ext cx="6068061" cy="2309888"/>
              <a:chOff x="0" y="0"/>
              <a:chExt cx="882773" cy="3360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FDFFF8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2700000">
              <a:off x="-71978" y="4051434"/>
              <a:ext cx="6068061" cy="2309888"/>
              <a:chOff x="0" y="0"/>
              <a:chExt cx="882773" cy="3360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028700" y="2055764"/>
            <a:ext cx="6476228" cy="4234073"/>
            <a:chOff x="0" y="0"/>
            <a:chExt cx="8634971" cy="564543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8265808" cy="5645431"/>
              <a:chOff x="0" y="0"/>
              <a:chExt cx="2426748" cy="165743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26748" cy="1657435"/>
              </a:xfrm>
              <a:custGeom>
                <a:avLst/>
                <a:gdLst/>
                <a:ahLst/>
                <a:cxnLst/>
                <a:rect l="l" t="t" r="r" b="b"/>
                <a:pathLst>
                  <a:path w="2426748" h="1657435">
                    <a:moveTo>
                      <a:pt x="54485" y="0"/>
                    </a:moveTo>
                    <a:lnTo>
                      <a:pt x="2372263" y="0"/>
                    </a:lnTo>
                    <a:cubicBezTo>
                      <a:pt x="2402354" y="0"/>
                      <a:pt x="2426748" y="24394"/>
                      <a:pt x="2426748" y="54485"/>
                    </a:cubicBezTo>
                    <a:lnTo>
                      <a:pt x="2426748" y="1602950"/>
                    </a:lnTo>
                    <a:cubicBezTo>
                      <a:pt x="2426748" y="1633041"/>
                      <a:pt x="2402354" y="1657435"/>
                      <a:pt x="2372263" y="1657435"/>
                    </a:cubicBezTo>
                    <a:lnTo>
                      <a:pt x="54485" y="1657435"/>
                    </a:lnTo>
                    <a:cubicBezTo>
                      <a:pt x="24394" y="1657435"/>
                      <a:pt x="0" y="1633041"/>
                      <a:pt x="0" y="1602950"/>
                    </a:cubicBezTo>
                    <a:lnTo>
                      <a:pt x="0" y="54485"/>
                    </a:lnTo>
                    <a:cubicBezTo>
                      <a:pt x="0" y="24394"/>
                      <a:pt x="24394" y="0"/>
                      <a:pt x="544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426748" cy="1695535"/>
              </a:xfrm>
              <a:prstGeom prst="rect">
                <a:avLst/>
              </a:prstGeom>
            </p:spPr>
            <p:txBody>
              <a:bodyPr lIns="42289" tIns="42289" rIns="42289" bIns="42289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03075" y="1367969"/>
              <a:ext cx="6730184" cy="1785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0"/>
                </a:lnSpc>
              </a:pPr>
              <a:r>
                <a:rPr lang="en-US" sz="1943" b="1">
                  <a:solidFill>
                    <a:srgbClr val="365679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Utilisation d’un modèle de régression linéaire pour analyser et prédire l’évolution de l’emploi à long terme.</a:t>
              </a:r>
            </a:p>
            <a:p>
              <a:pPr algn="l">
                <a:lnSpc>
                  <a:spcPts val="2720"/>
                </a:lnSpc>
                <a:spcBef>
                  <a:spcPct val="0"/>
                </a:spcBef>
              </a:pPr>
              <a:endParaRPr lang="en-US" sz="1943" b="1">
                <a:solidFill>
                  <a:srgbClr val="365679"/>
                </a:solidFill>
                <a:latin typeface="Heebo Bold"/>
                <a:ea typeface="Heebo Bold"/>
                <a:cs typeface="Heebo Bold"/>
                <a:sym typeface="Heebo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3789" y="3234454"/>
              <a:ext cx="8071181" cy="2022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30"/>
                </a:lnSpc>
              </a:pPr>
              <a:r>
                <a:rPr lang="en-US" sz="1784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 Agrégation annuelle des données QCEW</a:t>
              </a:r>
            </a:p>
            <a:p>
              <a:pPr algn="l">
                <a:lnSpc>
                  <a:spcPts val="3230"/>
                </a:lnSpc>
              </a:pPr>
              <a:r>
                <a:rPr lang="en-US" sz="1784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 Utilisation de la variable temporelle (année)    </a:t>
              </a:r>
            </a:p>
            <a:p>
              <a:pPr algn="l">
                <a:lnSpc>
                  <a:spcPts val="3230"/>
                </a:lnSpc>
              </a:pPr>
              <a:r>
                <a:rPr lang="en-US" sz="1784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       Analyse des tendances de croissance</a:t>
              </a:r>
            </a:p>
            <a:p>
              <a:pPr algn="l">
                <a:lnSpc>
                  <a:spcPts val="2498"/>
                </a:lnSpc>
              </a:pPr>
              <a:endParaRPr lang="en-US" sz="1784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3075" y="3874149"/>
              <a:ext cx="391901" cy="423432"/>
            </a:xfrm>
            <a:custGeom>
              <a:avLst/>
              <a:gdLst/>
              <a:ahLst/>
              <a:cxnLst/>
              <a:rect l="l" t="t" r="r" b="b"/>
              <a:pathLst>
                <a:path w="391901" h="423432">
                  <a:moveTo>
                    <a:pt x="0" y="0"/>
                  </a:moveTo>
                  <a:lnTo>
                    <a:pt x="391901" y="0"/>
                  </a:lnTo>
                  <a:lnTo>
                    <a:pt x="391901" y="423431"/>
                  </a:lnTo>
                  <a:lnTo>
                    <a:pt x="0" y="423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88" r="-3129" b="-9088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3" name="Freeform 23"/>
            <p:cNvSpPr/>
            <p:nvPr/>
          </p:nvSpPr>
          <p:spPr>
            <a:xfrm>
              <a:off x="603075" y="4461288"/>
              <a:ext cx="404165" cy="423432"/>
            </a:xfrm>
            <a:custGeom>
              <a:avLst/>
              <a:gdLst/>
              <a:ahLst/>
              <a:cxnLst/>
              <a:rect l="l" t="t" r="r" b="b"/>
              <a:pathLst>
                <a:path w="404165" h="423432">
                  <a:moveTo>
                    <a:pt x="0" y="0"/>
                  </a:moveTo>
                  <a:lnTo>
                    <a:pt x="404165" y="0"/>
                  </a:lnTo>
                  <a:lnTo>
                    <a:pt x="404165" y="423432"/>
                  </a:lnTo>
                  <a:lnTo>
                    <a:pt x="0" y="423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88" b="-9088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4" name="Freeform 24"/>
            <p:cNvSpPr/>
            <p:nvPr/>
          </p:nvSpPr>
          <p:spPr>
            <a:xfrm>
              <a:off x="563789" y="3287312"/>
              <a:ext cx="404165" cy="423432"/>
            </a:xfrm>
            <a:custGeom>
              <a:avLst/>
              <a:gdLst/>
              <a:ahLst/>
              <a:cxnLst/>
              <a:rect l="l" t="t" r="r" b="b"/>
              <a:pathLst>
                <a:path w="404165" h="423432">
                  <a:moveTo>
                    <a:pt x="0" y="0"/>
                  </a:moveTo>
                  <a:lnTo>
                    <a:pt x="404166" y="0"/>
                  </a:lnTo>
                  <a:lnTo>
                    <a:pt x="404166" y="423432"/>
                  </a:lnTo>
                  <a:lnTo>
                    <a:pt x="0" y="423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88" b="-9088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075" y="571703"/>
              <a:ext cx="5937458" cy="436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6"/>
                </a:lnSpc>
                <a:spcBef>
                  <a:spcPct val="0"/>
                </a:spcBef>
              </a:pPr>
              <a:r>
                <a:rPr lang="en-US" sz="1983" b="1">
                  <a:solidFill>
                    <a:srgbClr val="002C4B"/>
                  </a:solidFill>
                  <a:latin typeface="Heebo Bold"/>
                  <a:ea typeface="Heebo Bold"/>
                  <a:cs typeface="Heebo Bold"/>
                  <a:sym typeface="Heebo Bold"/>
                </a:rPr>
                <a:t>🤖 MODÈLE &amp; APPROCHE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2927110" y="7449345"/>
            <a:ext cx="4971840" cy="6126322"/>
            <a:chOff x="0" y="0"/>
            <a:chExt cx="6629120" cy="8168430"/>
          </a:xfrm>
        </p:grpSpPr>
        <p:grpSp>
          <p:nvGrpSpPr>
            <p:cNvPr id="27" name="Group 27"/>
            <p:cNvGrpSpPr/>
            <p:nvPr/>
          </p:nvGrpSpPr>
          <p:grpSpPr>
            <a:xfrm rot="-2700000">
              <a:off x="633038" y="1807108"/>
              <a:ext cx="6068061" cy="2309888"/>
              <a:chOff x="0" y="0"/>
              <a:chExt cx="882773" cy="33603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FDFFF8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-2700000">
              <a:off x="-71978" y="4051434"/>
              <a:ext cx="6068061" cy="2309888"/>
              <a:chOff x="0" y="0"/>
              <a:chExt cx="882773" cy="33603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C3F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882773" cy="374139"/>
              </a:xfrm>
              <a:prstGeom prst="rect">
                <a:avLst/>
              </a:prstGeom>
            </p:spPr>
            <p:txBody>
              <a:bodyPr lIns="70135" tIns="70135" rIns="70135" bIns="70135" rtlCol="0" anchor="ctr"/>
              <a:lstStyle/>
              <a:p>
                <a:pPr algn="ctr">
                  <a:lnSpc>
                    <a:spcPts val="2899"/>
                  </a:lnSpc>
                </a:pPr>
                <a:endParaRPr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657541" y="941291"/>
            <a:ext cx="14927653" cy="86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 spc="-60">
                <a:solidFill>
                  <a:srgbClr val="0B1320"/>
                </a:solidFill>
                <a:latin typeface="Heebo Heavy"/>
                <a:ea typeface="Heebo Heavy"/>
                <a:cs typeface="Heebo Heavy"/>
                <a:sym typeface="Heebo Heavy"/>
              </a:rPr>
              <a:t>MACHINE LEARNING 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790333" y="2055764"/>
            <a:ext cx="9764103" cy="6433872"/>
            <a:chOff x="0" y="0"/>
            <a:chExt cx="13018803" cy="8578496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3018803" cy="8578496"/>
              <a:chOff x="0" y="0"/>
              <a:chExt cx="3401188" cy="224114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401188" cy="2241149"/>
              </a:xfrm>
              <a:custGeom>
                <a:avLst/>
                <a:gdLst/>
                <a:ahLst/>
                <a:cxnLst/>
                <a:rect l="l" t="t" r="r" b="b"/>
                <a:pathLst>
                  <a:path w="3401188" h="2241149">
                    <a:moveTo>
                      <a:pt x="38875" y="0"/>
                    </a:moveTo>
                    <a:lnTo>
                      <a:pt x="3362313" y="0"/>
                    </a:lnTo>
                    <a:cubicBezTo>
                      <a:pt x="3383783" y="0"/>
                      <a:pt x="3401188" y="17405"/>
                      <a:pt x="3401188" y="38875"/>
                    </a:cubicBezTo>
                    <a:lnTo>
                      <a:pt x="3401188" y="2202274"/>
                    </a:lnTo>
                    <a:cubicBezTo>
                      <a:pt x="3401188" y="2212584"/>
                      <a:pt x="3397092" y="2222472"/>
                      <a:pt x="3389802" y="2229762"/>
                    </a:cubicBezTo>
                    <a:cubicBezTo>
                      <a:pt x="3382511" y="2237053"/>
                      <a:pt x="3372623" y="2241149"/>
                      <a:pt x="3362313" y="2241149"/>
                    </a:cubicBezTo>
                    <a:lnTo>
                      <a:pt x="38875" y="2241149"/>
                    </a:lnTo>
                    <a:cubicBezTo>
                      <a:pt x="28565" y="2241149"/>
                      <a:pt x="18677" y="2237053"/>
                      <a:pt x="11386" y="2229762"/>
                    </a:cubicBezTo>
                    <a:cubicBezTo>
                      <a:pt x="4096" y="2222472"/>
                      <a:pt x="0" y="2212584"/>
                      <a:pt x="0" y="2202274"/>
                    </a:cubicBezTo>
                    <a:lnTo>
                      <a:pt x="0" y="38875"/>
                    </a:lnTo>
                    <a:cubicBezTo>
                      <a:pt x="0" y="28565"/>
                      <a:pt x="4096" y="18677"/>
                      <a:pt x="11386" y="11386"/>
                    </a:cubicBezTo>
                    <a:cubicBezTo>
                      <a:pt x="18677" y="4096"/>
                      <a:pt x="28565" y="0"/>
                      <a:pt x="388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9525"/>
                <a:ext cx="3401188" cy="2250674"/>
              </a:xfrm>
              <a:prstGeom prst="rect">
                <a:avLst/>
              </a:prstGeom>
            </p:spPr>
            <p:txBody>
              <a:bodyPr lIns="42289" tIns="42289" rIns="42289" bIns="42289" rtlCol="0" anchor="ctr"/>
              <a:lstStyle/>
              <a:p>
                <a:pPr algn="ctr">
                  <a:lnSpc>
                    <a:spcPts val="827"/>
                  </a:lnSpc>
                </a:pPr>
                <a:endParaRPr/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827230" y="2422673"/>
              <a:ext cx="11364344" cy="6155822"/>
            </a:xfrm>
            <a:custGeom>
              <a:avLst/>
              <a:gdLst/>
              <a:ahLst/>
              <a:cxnLst/>
              <a:rect l="l" t="t" r="r" b="b"/>
              <a:pathLst>
                <a:path w="11364344" h="6155822">
                  <a:moveTo>
                    <a:pt x="0" y="0"/>
                  </a:moveTo>
                  <a:lnTo>
                    <a:pt x="11364344" y="0"/>
                  </a:lnTo>
                  <a:lnTo>
                    <a:pt x="11364344" y="6155823"/>
                  </a:lnTo>
                  <a:lnTo>
                    <a:pt x="0" y="6155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4" r="-62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827230" y="437915"/>
              <a:ext cx="10948089" cy="601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6"/>
                </a:lnSpc>
                <a:spcBef>
                  <a:spcPct val="0"/>
                </a:spcBef>
              </a:pPr>
              <a:r>
                <a:rPr lang="en-US" sz="2740" b="1">
                  <a:solidFill>
                    <a:srgbClr val="002C4B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PRÉDICTION DE L’EMPLOI (MILLIONS)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7230" y="1209994"/>
              <a:ext cx="10948089" cy="1660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0"/>
                </a:lnSpc>
              </a:pPr>
              <a:r>
                <a:rPr lang="en-US" sz="2005">
                  <a:solidFill>
                    <a:srgbClr val="365679"/>
                  </a:solidFill>
                  <a:latin typeface="Heebo"/>
                  <a:ea typeface="Heebo"/>
                  <a:cs typeface="Heebo"/>
                  <a:sym typeface="Heebo"/>
                </a:rPr>
                <a:t>Projection de l’évolution de l’emploi pour les prochaines années basée sur les données historiques.</a:t>
              </a:r>
            </a:p>
            <a:p>
              <a:pPr algn="l">
                <a:lnSpc>
                  <a:spcPts val="2808"/>
                </a:lnSpc>
              </a:pPr>
              <a:endParaRPr lang="en-US" sz="2005">
                <a:solidFill>
                  <a:srgbClr val="365679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aphicFrame>
        <p:nvGraphicFramePr>
          <p:cNvPr id="41" name="Table 41"/>
          <p:cNvGraphicFramePr>
            <a:graphicFrameLocks noGrp="1"/>
          </p:cNvGraphicFramePr>
          <p:nvPr/>
        </p:nvGraphicFramePr>
        <p:xfrm>
          <a:off x="1028700" y="6537487"/>
          <a:ext cx="6128509" cy="1930536"/>
        </p:xfrm>
        <a:graphic>
          <a:graphicData uri="http://schemas.openxmlformats.org/drawingml/2006/table">
            <a:tbl>
              <a:tblPr/>
              <a:tblGrid>
                <a:gridCol w="1458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8543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B13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B13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B13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B13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2027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993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B13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Emploi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B13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~152M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B132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~153M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292A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~155M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422338"/>
            <a:ext cx="18242359" cy="1422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10000" b="1" spc="-100">
                <a:solidFill>
                  <a:srgbClr val="F3F6FA"/>
                </a:solidFill>
                <a:latin typeface="Heebo Heavy"/>
                <a:ea typeface="Heebo Heavy"/>
                <a:cs typeface="Heebo Heavy"/>
                <a:sym typeface="Heebo Heavy"/>
              </a:rPr>
              <a:t>DÉMONSTRATION</a:t>
            </a:r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468645" y="-176423"/>
            <a:ext cx="5849991" cy="2226876"/>
            <a:chOff x="0" y="0"/>
            <a:chExt cx="882773" cy="336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D4F592"/>
              </a:solidFill>
              <a:prstDash val="sysDot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13394224" y="8201314"/>
            <a:ext cx="6377884" cy="2427826"/>
            <a:chOff x="0" y="0"/>
            <a:chExt cx="882773" cy="3360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FDFFF8"/>
              </a:soli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98288" tIns="98288" rIns="98288" bIns="98288" rtlCol="0" anchor="ctr"/>
            <a:lstStyle/>
            <a:p>
              <a:pPr algn="ctr">
                <a:lnSpc>
                  <a:spcPts val="406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4135237" y="5842397"/>
            <a:ext cx="6377884" cy="2427826"/>
            <a:chOff x="0" y="0"/>
            <a:chExt cx="882773" cy="3360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FC1D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98288" tIns="98288" rIns="98288" bIns="98288" rtlCol="0" anchor="ctr"/>
            <a:lstStyle/>
            <a:p>
              <a:pPr algn="ctr">
                <a:lnSpc>
                  <a:spcPts val="406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-3063324" y="2523778"/>
            <a:ext cx="7456685" cy="2838486"/>
            <a:chOff x="0" y="0"/>
            <a:chExt cx="882773" cy="3360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FC1D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82773" cy="383664"/>
            </a:xfrm>
            <a:prstGeom prst="rect">
              <a:avLst/>
            </a:prstGeom>
          </p:spPr>
          <p:txBody>
            <a:bodyPr lIns="79110" tIns="79110" rIns="79110" bIns="79110" rtlCol="0" anchor="ctr"/>
            <a:lstStyle/>
            <a:p>
              <a:pPr algn="ctr">
                <a:lnSpc>
                  <a:spcPts val="327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0667" y="933290"/>
            <a:ext cx="7176433" cy="5441096"/>
            <a:chOff x="0" y="0"/>
            <a:chExt cx="9568577" cy="7254795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44533" cy="800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1C3F6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CONCLUSION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33718"/>
              <a:ext cx="9568577" cy="6121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Ce projet a permis de mettre en place un pipeline data complet, depuis l’ingestion</a:t>
              </a:r>
            </a:p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des données jusqu’à leur analyse et visualisation.</a:t>
              </a:r>
            </a:p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 Les données brutes ont été transformées en informations utiles, facilitant la compréhension du marché du travail et la prise de décision.</a:t>
              </a:r>
            </a:p>
            <a:p>
              <a:pPr algn="ctr">
                <a:lnSpc>
                  <a:spcPts val="4060"/>
                </a:lnSpc>
              </a:pPr>
              <a:endParaRPr lang="en-US" sz="29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91395" y="5516541"/>
            <a:ext cx="7271843" cy="4574228"/>
            <a:chOff x="0" y="0"/>
            <a:chExt cx="9695790" cy="6098971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44533" cy="800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1C3F60"/>
                  </a:solidFill>
                  <a:latin typeface="Heebo Medium"/>
                  <a:ea typeface="Heebo Medium"/>
                  <a:cs typeface="Heebo Medium"/>
                  <a:sym typeface="Heebo Medium"/>
                </a:rPr>
                <a:t>RECOMMANDATIONS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49375"/>
              <a:ext cx="9695790" cy="4749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6111" lvl="1" indent="-313055" algn="ctr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Suivre les tendances de l’emploi pour anticiper les changements du marché</a:t>
              </a:r>
            </a:p>
            <a:p>
              <a:pPr marL="626111" lvl="1" indent="-313055" algn="ctr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Investir dans les industries les plus performantes</a:t>
              </a:r>
            </a:p>
            <a:p>
              <a:pPr marL="626111" lvl="1" indent="-313055" algn="ctr">
                <a:lnSpc>
                  <a:spcPts val="4060"/>
                </a:lnSpc>
                <a:buFont typeface="Arial"/>
                <a:buChar char="•"/>
              </a:pPr>
              <a:r>
                <a:rPr lang="en-US" sz="2900">
                  <a:solidFill>
                    <a:srgbClr val="0B1320"/>
                  </a:solidFill>
                  <a:latin typeface="Heebo"/>
                  <a:ea typeface="Heebo"/>
                  <a:cs typeface="Heebo"/>
                  <a:sym typeface="Heebo"/>
                </a:rPr>
                <a:t>Soutenir les secteurs en croissance et surveiller les secteurs en déclin</a:t>
              </a:r>
            </a:p>
            <a:p>
              <a:pPr algn="ctr">
                <a:lnSpc>
                  <a:spcPts val="4060"/>
                </a:lnSpc>
              </a:pPr>
              <a:endParaRPr lang="en-US" sz="2900">
                <a:solidFill>
                  <a:srgbClr val="0B132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332196" y="7571717"/>
            <a:ext cx="11815101" cy="2090501"/>
            <a:chOff x="0" y="0"/>
            <a:chExt cx="1635347" cy="2893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35347" cy="289350"/>
            </a:xfrm>
            <a:custGeom>
              <a:avLst/>
              <a:gdLst/>
              <a:ahLst/>
              <a:cxnLst/>
              <a:rect l="l" t="t" r="r" b="b"/>
              <a:pathLst>
                <a:path w="1635347" h="289350">
                  <a:moveTo>
                    <a:pt x="1432147" y="0"/>
                  </a:moveTo>
                  <a:cubicBezTo>
                    <a:pt x="1544372" y="0"/>
                    <a:pt x="1635347" y="64773"/>
                    <a:pt x="1635347" y="144675"/>
                  </a:cubicBezTo>
                  <a:cubicBezTo>
                    <a:pt x="1635347" y="224577"/>
                    <a:pt x="1544372" y="289350"/>
                    <a:pt x="1432147" y="289350"/>
                  </a:cubicBezTo>
                  <a:lnTo>
                    <a:pt x="203200" y="289350"/>
                  </a:lnTo>
                  <a:cubicBezTo>
                    <a:pt x="90976" y="289350"/>
                    <a:pt x="0" y="224577"/>
                    <a:pt x="0" y="144675"/>
                  </a:cubicBezTo>
                  <a:cubicBezTo>
                    <a:pt x="0" y="64773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36AD61"/>
              </a:solidFill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635347" cy="336975"/>
            </a:xfrm>
            <a:prstGeom prst="rect">
              <a:avLst/>
            </a:prstGeom>
          </p:spPr>
          <p:txBody>
            <a:bodyPr lIns="98288" tIns="98288" rIns="98288" bIns="98288" rtlCol="0" anchor="ctr"/>
            <a:lstStyle/>
            <a:p>
              <a:pPr algn="ctr">
                <a:lnSpc>
                  <a:spcPts val="406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700000">
            <a:off x="3856967" y="2438833"/>
            <a:ext cx="14295741" cy="2068013"/>
            <a:chOff x="0" y="0"/>
            <a:chExt cx="1978697" cy="2862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78697" cy="286237"/>
            </a:xfrm>
            <a:custGeom>
              <a:avLst/>
              <a:gdLst/>
              <a:ahLst/>
              <a:cxnLst/>
              <a:rect l="l" t="t" r="r" b="b"/>
              <a:pathLst>
                <a:path w="1978697" h="286237">
                  <a:moveTo>
                    <a:pt x="1775497" y="0"/>
                  </a:moveTo>
                  <a:cubicBezTo>
                    <a:pt x="1887721" y="0"/>
                    <a:pt x="1978697" y="64076"/>
                    <a:pt x="1978697" y="143119"/>
                  </a:cubicBezTo>
                  <a:cubicBezTo>
                    <a:pt x="1978697" y="222161"/>
                    <a:pt x="1887721" y="286237"/>
                    <a:pt x="1775497" y="286237"/>
                  </a:cubicBezTo>
                  <a:lnTo>
                    <a:pt x="203200" y="286237"/>
                  </a:lnTo>
                  <a:cubicBezTo>
                    <a:pt x="90976" y="286237"/>
                    <a:pt x="0" y="222161"/>
                    <a:pt x="0" y="143119"/>
                  </a:cubicBezTo>
                  <a:cubicBezTo>
                    <a:pt x="0" y="640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B132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78697" cy="333862"/>
            </a:xfrm>
            <a:prstGeom prst="rect">
              <a:avLst/>
            </a:prstGeom>
          </p:spPr>
          <p:txBody>
            <a:bodyPr lIns="98288" tIns="98288" rIns="98288" bIns="98288" rtlCol="0" anchor="ctr"/>
            <a:lstStyle/>
            <a:p>
              <a:pPr algn="ctr">
                <a:lnSpc>
                  <a:spcPts val="4063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785</Words>
  <Application>Microsoft Office PowerPoint</Application>
  <PresentationFormat>Personnalisé</PresentationFormat>
  <Paragraphs>168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0" baseType="lpstr">
      <vt:lpstr>Heebo</vt:lpstr>
      <vt:lpstr>Calibri</vt:lpstr>
      <vt:lpstr>Arial</vt:lpstr>
      <vt:lpstr>Heebo Medium</vt:lpstr>
      <vt:lpstr>Heebo Bold</vt:lpstr>
      <vt:lpstr>Heebo Heavy</vt:lpstr>
      <vt:lpstr>Arimo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BLS CEW Data Pipeline</dc:title>
  <cp:lastModifiedBy>zineb ettahery</cp:lastModifiedBy>
  <cp:revision>2</cp:revision>
  <dcterms:created xsi:type="dcterms:W3CDTF">2006-08-16T00:00:00Z</dcterms:created>
  <dcterms:modified xsi:type="dcterms:W3CDTF">2026-04-02T15:13:44Z</dcterms:modified>
  <dc:identifier>DAHFQR22Q-s</dc:identifier>
</cp:coreProperties>
</file>